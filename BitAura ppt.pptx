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9" r:id="rId6"/>
    <p:sldId id="275" r:id="rId7"/>
    <p:sldId id="261" r:id="rId8"/>
    <p:sldId id="278" r:id="rId9"/>
    <p:sldId id="274" r:id="rId10"/>
    <p:sldId id="262" r:id="rId11"/>
    <p:sldId id="277" r:id="rId12"/>
    <p:sldId id="263" r:id="rId13"/>
    <p:sldId id="272" r:id="rId14"/>
    <p:sldId id="273" r:id="rId15"/>
    <p:sldId id="264" r:id="rId16"/>
    <p:sldId id="271" r:id="rId17"/>
    <p:sldId id="265" r:id="rId18"/>
    <p:sldId id="270" r:id="rId19"/>
    <p:sldId id="266" r:id="rId20"/>
    <p:sldId id="276" r:id="rId21"/>
    <p:sldId id="267" r:id="rId22"/>
    <p:sldId id="268" r:id="rId2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4" d="100"/>
          <a:sy n="74" d="100"/>
        </p:scale>
        <p:origin x="2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9525" y="-9525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" name="TextBox 3"/>
          <p:cNvSpPr txBox="1"/>
          <p:nvPr/>
        </p:nvSpPr>
        <p:spPr>
          <a:xfrm>
            <a:off x="532154" y="3794731"/>
            <a:ext cx="8915401" cy="2571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0"/>
              </a:lnSpc>
              <a:defRPr sz="15000">
                <a:latin typeface="Clarendon"/>
                <a:ea typeface="Clarendon"/>
                <a:cs typeface="Clarendon"/>
                <a:sym typeface="Clarendon"/>
              </a:defRPr>
            </a:lvl1pPr>
          </a:lstStyle>
          <a:p>
            <a:r>
              <a:t>DRAKE</a:t>
            </a:r>
          </a:p>
        </p:txBody>
      </p:sp>
      <p:sp>
        <p:nvSpPr>
          <p:cNvPr id="96" name="TextBox 4"/>
          <p:cNvSpPr txBox="1"/>
          <p:nvPr/>
        </p:nvSpPr>
        <p:spPr>
          <a:xfrm>
            <a:off x="1892551" y="6312986"/>
            <a:ext cx="17107960" cy="155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200"/>
              </a:lnSpc>
              <a:defRPr sz="3000" spc="138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Dell Enterprise MCP Proxy</a:t>
            </a:r>
          </a:p>
          <a:p>
            <a:pPr>
              <a:lnSpc>
                <a:spcPts val="4200"/>
              </a:lnSpc>
              <a:defRPr sz="3000" spc="138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Infrastructure Command Center for AI-Driven Datacenter Orchestration</a:t>
            </a:r>
          </a:p>
        </p:txBody>
      </p:sp>
      <p:sp>
        <p:nvSpPr>
          <p:cNvPr id="97" name="TextBox 5"/>
          <p:cNvSpPr txBox="1"/>
          <p:nvPr/>
        </p:nvSpPr>
        <p:spPr>
          <a:xfrm>
            <a:off x="882715" y="9848180"/>
            <a:ext cx="2311269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 b="1" spc="92">
                <a:solidFill>
                  <a:srgbClr val="F7F6D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rPr dirty="0"/>
              <a:t>TEAM </a:t>
            </a:r>
            <a:r>
              <a:rPr lang="en-IN" dirty="0"/>
              <a:t>BITAURA</a:t>
            </a:r>
            <a:r>
              <a:rPr dirty="0"/>
              <a:t> 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Freeform 3"/>
          <p:cNvSpPr/>
          <p:nvPr/>
        </p:nvSpPr>
        <p:spPr>
          <a:xfrm>
            <a:off x="4015493" y="2494933"/>
            <a:ext cx="9264093" cy="61722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Box 4"/>
          <p:cNvSpPr txBox="1"/>
          <p:nvPr/>
        </p:nvSpPr>
        <p:spPr>
          <a:xfrm>
            <a:off x="5268776" y="-190500"/>
            <a:ext cx="7750449" cy="120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800"/>
              </a:lnSpc>
              <a:defRPr sz="70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The API Crisis</a:t>
            </a:r>
          </a:p>
        </p:txBody>
      </p:sp>
      <p:sp>
        <p:nvSpPr>
          <p:cNvPr id="102" name="TextBox 5"/>
          <p:cNvSpPr txBox="1"/>
          <p:nvPr/>
        </p:nvSpPr>
        <p:spPr>
          <a:xfrm>
            <a:off x="4815124" y="3990975"/>
            <a:ext cx="7664830" cy="2659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 b="1" spc="159">
                <a:latin typeface="Akzidenz-Grotesk Medium"/>
                <a:ea typeface="Akzidenz-Grotesk Medium"/>
                <a:cs typeface="Akzidenz-Grotesk Medium"/>
                <a:sym typeface="Akzidenz-Grotesk Medium"/>
              </a:defRPr>
            </a:lvl1pPr>
          </a:lstStyle>
          <a:p>
            <a:r>
              <a:rPr dirty="0"/>
              <a:t>Dell iDRAC exposes </a:t>
            </a:r>
            <a:r>
              <a:rPr lang="en-IN" dirty="0"/>
              <a:t>hundreds of low-level</a:t>
            </a:r>
            <a:r>
              <a:rPr dirty="0"/>
              <a:t> raw REST endpoints. A 1:1 MCP mapping consumes 120k+ tokens per request — causing LLM tool paralysis, hallucinations, and extreme latency.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TextBox 3"/>
          <p:cNvSpPr txBox="1"/>
          <p:nvPr/>
        </p:nvSpPr>
        <p:spPr>
          <a:xfrm>
            <a:off x="1114425" y="1668953"/>
            <a:ext cx="12987650" cy="696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200"/>
              </a:lnSpc>
              <a:defRPr sz="3000" b="1" spc="159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rPr dirty="0"/>
              <a:t>The API Explosion:</a:t>
            </a:r>
          </a:p>
          <a:p>
            <a:pPr algn="just">
              <a:lnSpc>
                <a:spcPts val="4200"/>
              </a:lnSpc>
              <a:defRPr sz="3000" spc="138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rPr dirty="0"/>
              <a:t> Dell iDRAC exposes</a:t>
            </a:r>
            <a:r>
              <a:rPr lang="en-IN" dirty="0"/>
              <a:t> </a:t>
            </a:r>
            <a:r>
              <a:rPr lang="en-IN" sz="3000" dirty="0">
                <a:sym typeface="Akzidenz-Grotesk"/>
              </a:rPr>
              <a:t>hundreds of low-level</a:t>
            </a:r>
            <a:r>
              <a:rPr dirty="0"/>
              <a:t> REST endpoints. No AI agent can reason across hundreds of low-level CRUD operations without losing context entirely.</a:t>
            </a:r>
          </a:p>
          <a:p>
            <a:pPr>
              <a:lnSpc>
                <a:spcPts val="4200"/>
              </a:lnSpc>
            </a:pPr>
            <a:endParaRPr dirty="0"/>
          </a:p>
          <a:p>
            <a:pPr>
              <a:lnSpc>
                <a:spcPts val="4200"/>
              </a:lnSpc>
              <a:defRPr sz="3000" b="1" spc="159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rPr dirty="0"/>
              <a:t>The Context Problem:</a:t>
            </a:r>
          </a:p>
          <a:p>
            <a:pPr algn="just">
              <a:lnSpc>
                <a:spcPts val="4200"/>
              </a:lnSpc>
              <a:defRPr sz="3000" spc="138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rPr dirty="0"/>
              <a:t>  A 1:1 MCP mapping consumes 120k+ tokens per request. Model hallucinations, extreme latency, and tool paralysis follow inevitably.</a:t>
            </a:r>
          </a:p>
          <a:p>
            <a:pPr>
              <a:lnSpc>
                <a:spcPts val="4200"/>
              </a:lnSpc>
            </a:pPr>
            <a:endParaRPr dirty="0"/>
          </a:p>
          <a:p>
            <a:pPr>
              <a:lnSpc>
                <a:spcPts val="4200"/>
              </a:lnSpc>
              <a:defRPr sz="3000" b="1" spc="159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rPr dirty="0"/>
              <a:t>The Danger of Bare-Metal Bricking:</a:t>
            </a:r>
          </a:p>
          <a:p>
            <a:pPr>
              <a:lnSpc>
                <a:spcPts val="4200"/>
              </a:lnSpc>
              <a:defRPr sz="3000" spc="138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rPr dirty="0"/>
              <a:t>   Partial AI workflow failures on physical servers are catastrophic. Step 1 (Mount</a:t>
            </a:r>
            <a:r>
              <a:rPr lang="en-IN" dirty="0"/>
              <a:t> </a:t>
            </a:r>
            <a:r>
              <a:rPr dirty="0"/>
              <a:t>ISO) succeeds. Step 3 fails. </a:t>
            </a:r>
            <a:br>
              <a:rPr dirty="0"/>
            </a:br>
            <a:r>
              <a:rPr dirty="0"/>
              <a:t>Result: corrupted motherboard configuration.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4391492" y="-168006"/>
            <a:ext cx="10743003" cy="113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800"/>
              </a:lnSpc>
              <a:defRPr sz="48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The Chaos of Raw Enterprise APIs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form 2"/>
          <p:cNvSpPr/>
          <p:nvPr/>
        </p:nvSpPr>
        <p:spPr>
          <a:xfrm>
            <a:off x="0" y="-9525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Box 3"/>
          <p:cNvSpPr txBox="1"/>
          <p:nvPr/>
        </p:nvSpPr>
        <p:spPr>
          <a:xfrm>
            <a:off x="1401137" y="1630536"/>
            <a:ext cx="15523944" cy="750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000"/>
              </a:lnSpc>
              <a:defRPr sz="2200" b="1" spc="10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rPr dirty="0"/>
              <a:t>Raw API sprawl is an AI agent's worst enemy. </a:t>
            </a:r>
            <a:r>
              <a:rPr lang="en-IN" dirty="0"/>
              <a:t>Hundreds of </a:t>
            </a:r>
            <a:r>
              <a:rPr dirty="0"/>
              <a:t>low-level endpoints overwhelm context windows, cause hallucinations, and make reliable datacenter automation impossible. Drake was built to solve this.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2593561" y="3438683"/>
            <a:ext cx="14608590" cy="75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000"/>
              </a:lnSpc>
              <a:defRPr sz="2200" spc="101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  Secure Gateway: Drake sits between the AI Client (Claude/Cursor) and Dell REST APIs, acting as a strict policy-enforcing proxy that governs every action taken on bare-metal infrastructure.</a:t>
            </a:r>
          </a:p>
        </p:txBody>
      </p:sp>
      <p:sp>
        <p:nvSpPr>
          <p:cNvPr id="111" name="TextBox 5"/>
          <p:cNvSpPr txBox="1"/>
          <p:nvPr/>
        </p:nvSpPr>
        <p:spPr>
          <a:xfrm>
            <a:off x="2650711" y="5057774"/>
            <a:ext cx="14312471" cy="75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000"/>
              </a:lnSpc>
              <a:defRPr sz="2200" spc="101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dirty="0"/>
              <a:t>Intelligent Simplification: Mathematically groups </a:t>
            </a:r>
            <a:r>
              <a:rPr lang="en-IN" dirty="0"/>
              <a:t>hundreds of low-level</a:t>
            </a:r>
            <a:r>
              <a:rPr dirty="0"/>
              <a:t> raw iDRAC endpoints into</a:t>
            </a:r>
            <a:r>
              <a:rPr lang="en-IN" dirty="0"/>
              <a:t> high level</a:t>
            </a:r>
            <a:r>
              <a:rPr dirty="0"/>
              <a:t> semantic workflows using vector embeddings and Leiden community detection.</a:t>
            </a:r>
          </a:p>
        </p:txBody>
      </p:sp>
      <p:sp>
        <p:nvSpPr>
          <p:cNvPr id="112" name="TextBox 6"/>
          <p:cNvSpPr txBox="1"/>
          <p:nvPr/>
        </p:nvSpPr>
        <p:spPr>
          <a:xfrm>
            <a:off x="2593561" y="6759320"/>
            <a:ext cx="14608590" cy="75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000"/>
              </a:lnSpc>
              <a:defRPr sz="2200" spc="101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Safety First: Validates all parameters pre-execution and runs multi-step workflows deterministically. If one step fails, the entire sequence halts and hardware state is restored.</a:t>
            </a:r>
          </a:p>
        </p:txBody>
      </p:sp>
      <p:sp>
        <p:nvSpPr>
          <p:cNvPr id="113" name="TextBox 7"/>
          <p:cNvSpPr txBox="1"/>
          <p:nvPr/>
        </p:nvSpPr>
        <p:spPr>
          <a:xfrm>
            <a:off x="1401138" y="8506839"/>
            <a:ext cx="15801013" cy="747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just">
              <a:lnSpc>
                <a:spcPts val="3000"/>
              </a:lnSpc>
              <a:defRPr sz="2200" spc="101">
                <a:solidFill>
                  <a:srgbClr val="F7F6DF"/>
                </a:solidFill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dirty="0"/>
              <a:t>     Drake doesn't just wrap APIs. It acts as a design-time compiler (</a:t>
            </a:r>
            <a:r>
              <a:rPr lang="en-IN" dirty="0"/>
              <a:t>for example </a:t>
            </a:r>
            <a:r>
              <a:rPr dirty="0"/>
              <a:t>simplifying 714 endpoints to </a:t>
            </a:r>
            <a:r>
              <a:rPr lang="en-IN" dirty="0"/>
              <a:t>120</a:t>
            </a:r>
            <a:r>
              <a:rPr dirty="0"/>
              <a:t> workflows) and a runtime execution engine (handling the translation of one LLM command into multiple Dell REST API calls).</a:t>
            </a:r>
          </a:p>
        </p:txBody>
      </p:sp>
      <p:sp>
        <p:nvSpPr>
          <p:cNvPr id="114" name="TextBox 8"/>
          <p:cNvSpPr txBox="1"/>
          <p:nvPr/>
        </p:nvSpPr>
        <p:spPr>
          <a:xfrm>
            <a:off x="1544341" y="3592862"/>
            <a:ext cx="592238" cy="441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600"/>
              </a:lnSpc>
              <a:defRPr sz="2600" b="1" spc="119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01</a:t>
            </a:r>
          </a:p>
        </p:txBody>
      </p:sp>
      <p:sp>
        <p:nvSpPr>
          <p:cNvPr id="115" name="TextBox 9"/>
          <p:cNvSpPr txBox="1"/>
          <p:nvPr/>
        </p:nvSpPr>
        <p:spPr>
          <a:xfrm>
            <a:off x="1477338" y="5346096"/>
            <a:ext cx="592238" cy="4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600"/>
              </a:lnSpc>
              <a:defRPr sz="2600" b="1" spc="119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02</a:t>
            </a:r>
          </a:p>
        </p:txBody>
      </p:sp>
      <p:sp>
        <p:nvSpPr>
          <p:cNvPr id="116" name="TextBox 10"/>
          <p:cNvSpPr txBox="1"/>
          <p:nvPr/>
        </p:nvSpPr>
        <p:spPr>
          <a:xfrm>
            <a:off x="1496716" y="7093012"/>
            <a:ext cx="592238" cy="4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600"/>
              </a:lnSpc>
              <a:defRPr sz="2600" b="1" spc="119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3F69ABD2-6AE6-C7CE-6236-ECDA6CA246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22B50-30F2-316E-EBB1-0B73BE81A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658" y="-639437"/>
            <a:ext cx="18591657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54408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186E4-1EA7-DB13-2B4A-8D24CB3D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C360E3-5A74-2B7B-072E-BFAAE09838C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FF3F3-F16D-0059-23C9-6C5CF2F17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-517517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10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TextBox 4"/>
          <p:cNvSpPr txBox="1"/>
          <p:nvPr/>
        </p:nvSpPr>
        <p:spPr>
          <a:xfrm>
            <a:off x="3933495" y="412952"/>
            <a:ext cx="10927701" cy="113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800"/>
              </a:lnSpc>
              <a:defRPr sz="48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USP 1: Algorithmic Clustering Engine </a:t>
            </a:r>
          </a:p>
        </p:txBody>
      </p:sp>
      <p:sp>
        <p:nvSpPr>
          <p:cNvPr id="138" name="TextBox 5"/>
          <p:cNvSpPr txBox="1"/>
          <p:nvPr/>
        </p:nvSpPr>
        <p:spPr>
          <a:xfrm>
            <a:off x="1028699" y="2234087"/>
            <a:ext cx="8758392" cy="5421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300"/>
              </a:lnSpc>
              <a:defRPr sz="2400" b="1" spc="127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t>Vectorization</a:t>
            </a:r>
          </a:p>
          <a:p>
            <a:pPr>
              <a:lnSpc>
                <a:spcPts val="3300"/>
              </a:lnSpc>
              <a:defRPr sz="2400" spc="127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Embeds OpenAPI endpoints using sentence-transformers for semantic similarity.</a:t>
            </a:r>
          </a:p>
          <a:p>
            <a:pPr>
              <a:lnSpc>
                <a:spcPts val="3300"/>
              </a:lnSpc>
            </a:pPr>
            <a:endParaRPr/>
          </a:p>
          <a:p>
            <a:pPr>
              <a:lnSpc>
                <a:spcPts val="3300"/>
              </a:lnSpc>
              <a:defRPr sz="2400" b="1" spc="127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t>Relationship Graph</a:t>
            </a:r>
          </a:p>
          <a:p>
            <a:pPr>
              <a:lnSpc>
                <a:spcPts val="3300"/>
              </a:lnSpc>
              <a:defRPr sz="2400" spc="127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Evaluates Semantic Similarity + Tag Overlap + URL Path Hierarchy to build a weighted NetworkX graph.</a:t>
            </a:r>
          </a:p>
          <a:p>
            <a:pPr>
              <a:lnSpc>
                <a:spcPts val="3300"/>
              </a:lnSpc>
            </a:pPr>
            <a:endParaRPr/>
          </a:p>
          <a:p>
            <a:pPr>
              <a:lnSpc>
                <a:spcPts val="3300"/>
              </a:lnSpc>
              <a:defRPr sz="2400" b="1" spc="127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t>Leiden Partitioning</a:t>
            </a:r>
          </a:p>
          <a:p>
            <a:pPr>
              <a:lnSpc>
                <a:spcPts val="3300"/>
              </a:lnSpc>
              <a:defRPr sz="2400" spc="127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Mathematically groups connected endpoint nodes into isolated workflow communities via Leiden modularity detection.</a:t>
            </a:r>
          </a:p>
        </p:txBody>
      </p:sp>
      <p:sp>
        <p:nvSpPr>
          <p:cNvPr id="139" name="TextBox 6"/>
          <p:cNvSpPr txBox="1"/>
          <p:nvPr/>
        </p:nvSpPr>
        <p:spPr>
          <a:xfrm>
            <a:off x="1449875" y="8204679"/>
            <a:ext cx="14374281" cy="873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500" b="1" spc="132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rPr dirty="0"/>
              <a:t>The result:  </a:t>
            </a:r>
            <a:r>
              <a:rPr lang="en-IN" dirty="0"/>
              <a:t>Hundreds of low-level </a:t>
            </a:r>
            <a:r>
              <a:rPr dirty="0"/>
              <a:t>e</a:t>
            </a:r>
            <a:r>
              <a:rPr lang="en-IN" dirty="0"/>
              <a:t>n</a:t>
            </a:r>
            <a:r>
              <a:rPr dirty="0" err="1"/>
              <a:t>dpoints</a:t>
            </a:r>
            <a:r>
              <a:rPr dirty="0"/>
              <a:t> auto-grouped into</a:t>
            </a:r>
            <a:r>
              <a:rPr lang="en-IN" dirty="0"/>
              <a:t> high-level semantic workflows</a:t>
            </a:r>
            <a:r>
              <a:rPr dirty="0"/>
              <a:t>. No manual curation. No guesswork. Pure mathematical precision.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C2C01-EE9D-867F-F632-383E5E0F1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60" y="2385853"/>
            <a:ext cx="6481824" cy="542163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091EE-E843-4DAB-E3C2-E0BB635D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2">
            <a:extLst>
              <a:ext uri="{FF2B5EF4-FFF2-40B4-BE49-F238E27FC236}">
                <a16:creationId xmlns:a16="http://schemas.microsoft.com/office/drawing/2014/main" id="{BC983F2E-7156-9B5E-B1A7-2911F2AB5E2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TextBox 4">
            <a:extLst>
              <a:ext uri="{FF2B5EF4-FFF2-40B4-BE49-F238E27FC236}">
                <a16:creationId xmlns:a16="http://schemas.microsoft.com/office/drawing/2014/main" id="{3600AB7B-AAC5-3863-9008-9FE75A1062F6}"/>
              </a:ext>
            </a:extLst>
          </p:cNvPr>
          <p:cNvSpPr txBox="1"/>
          <p:nvPr/>
        </p:nvSpPr>
        <p:spPr>
          <a:xfrm>
            <a:off x="3945550" y="239080"/>
            <a:ext cx="10927701" cy="113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800"/>
              </a:lnSpc>
              <a:defRPr sz="48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lang="en-IN" dirty="0"/>
              <a:t>GRAPH-BASED WORKFLOW DISCOVERY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5">
                <a:extLst>
                  <a:ext uri="{FF2B5EF4-FFF2-40B4-BE49-F238E27FC236}">
                    <a16:creationId xmlns:a16="http://schemas.microsoft.com/office/drawing/2014/main" id="{B88D9CD2-8870-5F5D-4FBC-13DCDCE183AA}"/>
                  </a:ext>
                </a:extLst>
              </p:cNvPr>
              <p:cNvSpPr txBox="1"/>
              <p:nvPr/>
            </p:nvSpPr>
            <p:spPr>
              <a:xfrm>
                <a:off x="1584960" y="1402253"/>
                <a:ext cx="10569657" cy="83213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IN" sz="2200" b="1" dirty="0"/>
                  <a:t>Step 1: Endpoint Similarity Scoring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sepChr m:val=","/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IN" sz="220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200">
                          <a:latin typeface="Cambria Math" panose="02040503050406030204" pitchFamily="18" charset="0"/>
                        </a:rPr>
                        <m:t>+0.3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2200">
                          <a:latin typeface="Cambria Math" panose="02040503050406030204" pitchFamily="18" charset="0"/>
                        </a:rPr>
                        <m:t>+0.2</m:t>
                      </m:r>
                      <m:r>
                        <a:rPr lang="en-IN" sz="22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sz="2200" dirty="0"/>
              </a:p>
              <a:p>
                <a:r>
                  <a:rPr lang="en-IN" sz="2200" dirty="0"/>
                  <a:t>Where:</a:t>
                </a:r>
              </a:p>
              <a:p>
                <a:r>
                  <a:rPr lang="en-IN" sz="2200" b="1" dirty="0"/>
                  <a:t>S</a:t>
                </a:r>
                <a:r>
                  <a:rPr lang="en-IN" sz="2200" dirty="0"/>
                  <a:t> = Semantic Similarity </a:t>
                </a:r>
              </a:p>
              <a:p>
                <a:r>
                  <a:rPr lang="en-IN" sz="2200" b="1" dirty="0"/>
                  <a:t>T</a:t>
                </a:r>
                <a:r>
                  <a:rPr lang="en-IN" sz="2200" dirty="0"/>
                  <a:t> = Tag Overlap </a:t>
                </a:r>
              </a:p>
              <a:p>
                <a:r>
                  <a:rPr lang="en-IN" sz="2200" b="1" dirty="0"/>
                  <a:t>P</a:t>
                </a:r>
                <a:r>
                  <a:rPr lang="en-IN" sz="2200" dirty="0"/>
                  <a:t> = API Path Similarity </a:t>
                </a:r>
              </a:p>
              <a:p>
                <a:r>
                  <a:rPr lang="en-IN" sz="2200" b="1" dirty="0"/>
                  <a:t>Purpose:</a:t>
                </a:r>
                <a:r>
                  <a:rPr lang="en-IN" sz="2200" dirty="0"/>
                  <a:t> Quantifies how closely two API endpoints are related.</a:t>
                </a:r>
              </a:p>
              <a:p>
                <a:endParaRPr lang="en-IN" sz="2200" dirty="0"/>
              </a:p>
              <a:p>
                <a:r>
                  <a:rPr lang="en-IN" sz="2200" b="1" dirty="0"/>
                  <a:t>Step 2: Graph Construction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IN" sz="2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en-IN" sz="2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IN" sz="2200" dirty="0"/>
              </a:p>
              <a:p>
                <a:r>
                  <a:rPr lang="en-IN" sz="2200" dirty="0"/>
                  <a:t>Where:</a:t>
                </a:r>
              </a:p>
              <a:p>
                <a:r>
                  <a:rPr lang="en-IN" sz="2200" b="1" dirty="0"/>
                  <a:t>V</a:t>
                </a:r>
                <a:r>
                  <a:rPr lang="en-IN" sz="2200" dirty="0"/>
                  <a:t> = API Endpoints </a:t>
                </a:r>
              </a:p>
              <a:p>
                <a:r>
                  <a:rPr lang="en-IN" sz="2200" b="1" dirty="0"/>
                  <a:t>E</a:t>
                </a:r>
                <a:r>
                  <a:rPr lang="en-IN" sz="2200" dirty="0"/>
                  <a:t> = Weighted Relationships </a:t>
                </a:r>
              </a:p>
              <a:p>
                <a:r>
                  <a:rPr lang="en-IN" sz="2200" b="1" dirty="0"/>
                  <a:t>Purpose:</a:t>
                </a:r>
                <a:r>
                  <a:rPr lang="en-IN" sz="2200" dirty="0"/>
                  <a:t> Convert 714 isolated endpoints into a connected relationship graph.</a:t>
                </a:r>
              </a:p>
              <a:p>
                <a:br>
                  <a:rPr lang="en-IN" sz="2200" dirty="0"/>
                </a:br>
                <a:endParaRPr lang="en-IN" sz="2200" dirty="0"/>
              </a:p>
              <a:p>
                <a:r>
                  <a:rPr lang="en-IN" sz="2200" b="1" dirty="0"/>
                  <a:t>Step 3: Community Detection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2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20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IN" sz="22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IN" sz="22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sepChr m:val=","/>
                          <m:ctrlPr>
                            <a:rPr lang="en-I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200" dirty="0"/>
              </a:p>
              <a:p>
                <a:endParaRPr lang="en-IN" sz="2200" b="1" dirty="0"/>
              </a:p>
              <a:p>
                <a:r>
                  <a:rPr lang="en-IN" sz="2200" b="1" dirty="0"/>
                  <a:t>Leiden Modularity Optimization</a:t>
                </a:r>
                <a:endParaRPr lang="en-IN" sz="2200" dirty="0"/>
              </a:p>
              <a:p>
                <a:r>
                  <a:rPr lang="en-IN" sz="2200" b="1" dirty="0"/>
                  <a:t>Purpose:</a:t>
                </a:r>
                <a:r>
                  <a:rPr lang="en-IN" sz="2200" dirty="0"/>
                  <a:t> Discover highly connected endpoint communities automatically.</a:t>
                </a:r>
              </a:p>
              <a:p>
                <a:endParaRPr lang="en-IN" sz="2200" dirty="0"/>
              </a:p>
              <a:p>
                <a:pPr>
                  <a:lnSpc>
                    <a:spcPts val="3300"/>
                  </a:lnSpc>
                  <a:defRPr sz="2400" b="1" spc="127">
                    <a:latin typeface="Akzidenz-Grotesk Bold"/>
                    <a:ea typeface="Akzidenz-Grotesk Bold"/>
                    <a:cs typeface="Akzidenz-Grotesk Bold"/>
                    <a:sym typeface="Akzidenz-Grotesk Bold"/>
                  </a:defRPr>
                </a:pPr>
                <a:endParaRPr sz="2200" dirty="0"/>
              </a:p>
            </p:txBody>
          </p:sp>
        </mc:Choice>
        <mc:Fallback xmlns="">
          <p:sp>
            <p:nvSpPr>
              <p:cNvPr id="138" name="TextBox 5">
                <a:extLst>
                  <a:ext uri="{FF2B5EF4-FFF2-40B4-BE49-F238E27FC236}">
                    <a16:creationId xmlns:a16="http://schemas.microsoft.com/office/drawing/2014/main" id="{B88D9CD2-8870-5F5D-4FBC-13DCDCE18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1402253"/>
                <a:ext cx="10569657" cy="8321381"/>
              </a:xfrm>
              <a:prstGeom prst="rect">
                <a:avLst/>
              </a:prstGeom>
              <a:blipFill>
                <a:blip r:embed="rId3"/>
                <a:stretch>
                  <a:fillRect l="-1615" t="-102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6">
            <a:extLst>
              <a:ext uri="{FF2B5EF4-FFF2-40B4-BE49-F238E27FC236}">
                <a16:creationId xmlns:a16="http://schemas.microsoft.com/office/drawing/2014/main" id="{1E7639B6-CAAC-84D2-1A4D-C88EB5AE36B6}"/>
              </a:ext>
            </a:extLst>
          </p:cNvPr>
          <p:cNvSpPr txBox="1"/>
          <p:nvPr/>
        </p:nvSpPr>
        <p:spPr>
          <a:xfrm>
            <a:off x="1449875" y="8204679"/>
            <a:ext cx="14374281" cy="421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500" b="1" spc="132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9DC1C-C538-2DDD-9CD0-72E7A8695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40" y="2362200"/>
            <a:ext cx="6598920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4538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A36B-ACFE-45A1-6E68-752525B0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E327EA-064F-B691-4824-CD479E042C6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782F6D-45D5-6F7E-B1D1-54E422611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137" y="-608958"/>
            <a:ext cx="18285714" cy="105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623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5F946274-D7E0-2C70-E28C-76781F8796A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" name="TextBox 3"/>
          <p:cNvSpPr txBox="1"/>
          <p:nvPr/>
        </p:nvSpPr>
        <p:spPr>
          <a:xfrm>
            <a:off x="1368478" y="433167"/>
            <a:ext cx="15261357" cy="733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300"/>
              </a:lnSpc>
              <a:defRPr sz="32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USP 2: Multi-API Cross-Product Orchestration   </a:t>
            </a:r>
          </a:p>
        </p:txBody>
      </p:sp>
      <p:sp>
        <p:nvSpPr>
          <p:cNvPr id="143" name="TextBox 4"/>
          <p:cNvSpPr txBox="1"/>
          <p:nvPr/>
        </p:nvSpPr>
        <p:spPr>
          <a:xfrm>
            <a:off x="1702024" y="2111835"/>
            <a:ext cx="2464950" cy="50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100"/>
              </a:lnSpc>
              <a:defRPr sz="29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OS10 Switch  </a:t>
            </a:r>
          </a:p>
        </p:txBody>
      </p:sp>
      <p:sp>
        <p:nvSpPr>
          <p:cNvPr id="144" name="TextBox 5"/>
          <p:cNvSpPr txBox="1"/>
          <p:nvPr/>
        </p:nvSpPr>
        <p:spPr>
          <a:xfrm>
            <a:off x="1816324" y="3476178"/>
            <a:ext cx="1601764" cy="514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sz="30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iDRAC</a:t>
            </a:r>
          </a:p>
        </p:txBody>
      </p:sp>
      <p:sp>
        <p:nvSpPr>
          <p:cNvPr id="145" name="TextBox 6"/>
          <p:cNvSpPr txBox="1"/>
          <p:nvPr/>
        </p:nvSpPr>
        <p:spPr>
          <a:xfrm>
            <a:off x="1371824" y="4946650"/>
            <a:ext cx="1833416" cy="514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OME</a:t>
            </a:r>
          </a:p>
        </p:txBody>
      </p:sp>
      <p:sp>
        <p:nvSpPr>
          <p:cNvPr id="146" name="TextBox 7"/>
          <p:cNvSpPr txBox="1"/>
          <p:nvPr/>
        </p:nvSpPr>
        <p:spPr>
          <a:xfrm>
            <a:off x="1384525" y="6388100"/>
            <a:ext cx="2309644" cy="50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100"/>
              </a:lnSpc>
              <a:defRPr sz="29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Workflow</a:t>
            </a:r>
          </a:p>
        </p:txBody>
      </p:sp>
      <p:sp>
        <p:nvSpPr>
          <p:cNvPr id="147" name="TextBox 8"/>
          <p:cNvSpPr txBox="1"/>
          <p:nvPr/>
        </p:nvSpPr>
        <p:spPr>
          <a:xfrm>
            <a:off x="1587724" y="7781925"/>
            <a:ext cx="1714352" cy="50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100"/>
              </a:lnSpc>
              <a:defRPr sz="29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Result</a:t>
            </a:r>
          </a:p>
        </p:txBody>
      </p:sp>
      <p:sp>
        <p:nvSpPr>
          <p:cNvPr id="148" name="TextBox 9"/>
          <p:cNvSpPr txBox="1"/>
          <p:nvPr/>
        </p:nvSpPr>
        <p:spPr>
          <a:xfrm>
            <a:off x="8703129" y="1956577"/>
            <a:ext cx="8215909" cy="1243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Configure VLAN/networking → Prepares network fabric for the new AI node before any compute action.        </a:t>
            </a:r>
          </a:p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       </a:t>
            </a:r>
          </a:p>
        </p:txBody>
      </p:sp>
      <p:sp>
        <p:nvSpPr>
          <p:cNvPr id="149" name="TextBox 10"/>
          <p:cNvSpPr txBox="1"/>
          <p:nvPr/>
        </p:nvSpPr>
        <p:spPr>
          <a:xfrm>
            <a:off x="8635645" y="3393828"/>
            <a:ext cx="7970863" cy="1243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Mount OS ISO + Boot → Boots the node from scratch with the target OS image.  </a:t>
            </a:r>
          </a:p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    </a:t>
            </a:r>
          </a:p>
        </p:txBody>
      </p:sp>
      <p:sp>
        <p:nvSpPr>
          <p:cNvPr id="150" name="TextBox 11"/>
          <p:cNvSpPr txBox="1"/>
          <p:nvPr/>
        </p:nvSpPr>
        <p:spPr>
          <a:xfrm>
            <a:off x="8703129" y="4767579"/>
            <a:ext cx="7664979" cy="1243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Add to Compliance Baseline → Registers node with OME compliance monitoring for ongoing governance.</a:t>
            </a:r>
          </a:p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      </a:t>
            </a:r>
          </a:p>
        </p:txBody>
      </p:sp>
      <p:sp>
        <p:nvSpPr>
          <p:cNvPr id="151" name="TextBox 12"/>
          <p:cNvSpPr txBox="1"/>
          <p:nvPr/>
        </p:nvSpPr>
        <p:spPr>
          <a:xfrm>
            <a:off x="8703129" y="6156959"/>
            <a:ext cx="7835896" cy="1243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Provision_AI_Node Workflow → Single LLM command triggers all 3 cross-product steps in order.       </a:t>
            </a:r>
          </a:p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   </a:t>
            </a:r>
          </a:p>
        </p:txBody>
      </p:sp>
      <p:sp>
        <p:nvSpPr>
          <p:cNvPr id="152" name="TextBox 13"/>
          <p:cNvSpPr txBox="1"/>
          <p:nvPr/>
        </p:nvSpPr>
        <p:spPr>
          <a:xfrm>
            <a:off x="8703129" y="7626667"/>
            <a:ext cx="7088480" cy="1243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One API, Three Products → Unified workflow spans OS10, iDRAC, and OME in a single Drake call.  </a:t>
            </a:r>
          </a:p>
          <a:p>
            <a:pPr>
              <a:lnSpc>
                <a:spcPts val="3300"/>
              </a:lnSpc>
              <a:defRPr sz="24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    </a:t>
            </a:r>
          </a:p>
        </p:txBody>
      </p:sp>
      <p:sp>
        <p:nvSpPr>
          <p:cNvPr id="153" name="Ornament 18"/>
          <p:cNvSpPr/>
          <p:nvPr/>
        </p:nvSpPr>
        <p:spPr>
          <a:xfrm>
            <a:off x="5595838" y="2324522"/>
            <a:ext cx="1337741" cy="7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6" extrusionOk="0">
                <a:moveTo>
                  <a:pt x="10049" y="2"/>
                </a:moveTo>
                <a:lnTo>
                  <a:pt x="74" y="8288"/>
                </a:lnTo>
                <a:cubicBezTo>
                  <a:pt x="33" y="8326"/>
                  <a:pt x="0" y="8923"/>
                  <a:pt x="0" y="9654"/>
                </a:cubicBezTo>
                <a:lnTo>
                  <a:pt x="0" y="11912"/>
                </a:lnTo>
                <a:cubicBezTo>
                  <a:pt x="0" y="12643"/>
                  <a:pt x="33" y="13240"/>
                  <a:pt x="74" y="13278"/>
                </a:cubicBezTo>
                <a:lnTo>
                  <a:pt x="10049" y="21564"/>
                </a:lnTo>
                <a:cubicBezTo>
                  <a:pt x="10071" y="21583"/>
                  <a:pt x="10092" y="21454"/>
                  <a:pt x="10108" y="21178"/>
                </a:cubicBezTo>
                <a:lnTo>
                  <a:pt x="10643" y="11763"/>
                </a:lnTo>
                <a:cubicBezTo>
                  <a:pt x="10673" y="11221"/>
                  <a:pt x="10673" y="10335"/>
                  <a:pt x="10643" y="9803"/>
                </a:cubicBezTo>
                <a:lnTo>
                  <a:pt x="10108" y="388"/>
                </a:lnTo>
                <a:cubicBezTo>
                  <a:pt x="10093" y="122"/>
                  <a:pt x="10071" y="-17"/>
                  <a:pt x="10049" y="2"/>
                </a:cubicBezTo>
                <a:close/>
                <a:moveTo>
                  <a:pt x="11551" y="2"/>
                </a:moveTo>
                <a:cubicBezTo>
                  <a:pt x="11529" y="-17"/>
                  <a:pt x="11507" y="122"/>
                  <a:pt x="11492" y="388"/>
                </a:cubicBezTo>
                <a:lnTo>
                  <a:pt x="10957" y="9803"/>
                </a:lnTo>
                <a:cubicBezTo>
                  <a:pt x="10927" y="10335"/>
                  <a:pt x="10927" y="11221"/>
                  <a:pt x="10957" y="11763"/>
                </a:cubicBezTo>
                <a:lnTo>
                  <a:pt x="11492" y="21178"/>
                </a:lnTo>
                <a:cubicBezTo>
                  <a:pt x="11508" y="21454"/>
                  <a:pt x="11529" y="21583"/>
                  <a:pt x="11551" y="21564"/>
                </a:cubicBezTo>
                <a:lnTo>
                  <a:pt x="21526" y="13278"/>
                </a:lnTo>
                <a:cubicBezTo>
                  <a:pt x="21567" y="13240"/>
                  <a:pt x="21600" y="12643"/>
                  <a:pt x="21600" y="11912"/>
                </a:cubicBezTo>
                <a:lnTo>
                  <a:pt x="21600" y="9654"/>
                </a:lnTo>
                <a:cubicBezTo>
                  <a:pt x="21600" y="8923"/>
                  <a:pt x="21567" y="8326"/>
                  <a:pt x="21526" y="8288"/>
                </a:cubicBezTo>
                <a:lnTo>
                  <a:pt x="11551" y="2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4" name="Ornament 18"/>
          <p:cNvSpPr/>
          <p:nvPr/>
        </p:nvSpPr>
        <p:spPr>
          <a:xfrm>
            <a:off x="5545038" y="3759622"/>
            <a:ext cx="1337741" cy="7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6" extrusionOk="0">
                <a:moveTo>
                  <a:pt x="10049" y="2"/>
                </a:moveTo>
                <a:lnTo>
                  <a:pt x="74" y="8288"/>
                </a:lnTo>
                <a:cubicBezTo>
                  <a:pt x="33" y="8326"/>
                  <a:pt x="0" y="8923"/>
                  <a:pt x="0" y="9654"/>
                </a:cubicBezTo>
                <a:lnTo>
                  <a:pt x="0" y="11912"/>
                </a:lnTo>
                <a:cubicBezTo>
                  <a:pt x="0" y="12643"/>
                  <a:pt x="33" y="13240"/>
                  <a:pt x="74" y="13278"/>
                </a:cubicBezTo>
                <a:lnTo>
                  <a:pt x="10049" y="21564"/>
                </a:lnTo>
                <a:cubicBezTo>
                  <a:pt x="10071" y="21583"/>
                  <a:pt x="10092" y="21454"/>
                  <a:pt x="10108" y="21178"/>
                </a:cubicBezTo>
                <a:lnTo>
                  <a:pt x="10643" y="11763"/>
                </a:lnTo>
                <a:cubicBezTo>
                  <a:pt x="10673" y="11221"/>
                  <a:pt x="10673" y="10335"/>
                  <a:pt x="10643" y="9803"/>
                </a:cubicBezTo>
                <a:lnTo>
                  <a:pt x="10108" y="388"/>
                </a:lnTo>
                <a:cubicBezTo>
                  <a:pt x="10093" y="122"/>
                  <a:pt x="10071" y="-17"/>
                  <a:pt x="10049" y="2"/>
                </a:cubicBezTo>
                <a:close/>
                <a:moveTo>
                  <a:pt x="11551" y="2"/>
                </a:moveTo>
                <a:cubicBezTo>
                  <a:pt x="11529" y="-17"/>
                  <a:pt x="11507" y="122"/>
                  <a:pt x="11492" y="388"/>
                </a:cubicBezTo>
                <a:lnTo>
                  <a:pt x="10957" y="9803"/>
                </a:lnTo>
                <a:cubicBezTo>
                  <a:pt x="10927" y="10335"/>
                  <a:pt x="10927" y="11221"/>
                  <a:pt x="10957" y="11763"/>
                </a:cubicBezTo>
                <a:lnTo>
                  <a:pt x="11492" y="21178"/>
                </a:lnTo>
                <a:cubicBezTo>
                  <a:pt x="11508" y="21454"/>
                  <a:pt x="11529" y="21583"/>
                  <a:pt x="11551" y="21564"/>
                </a:cubicBezTo>
                <a:lnTo>
                  <a:pt x="21526" y="13278"/>
                </a:lnTo>
                <a:cubicBezTo>
                  <a:pt x="21567" y="13240"/>
                  <a:pt x="21600" y="12643"/>
                  <a:pt x="21600" y="11912"/>
                </a:cubicBezTo>
                <a:lnTo>
                  <a:pt x="21600" y="9654"/>
                </a:lnTo>
                <a:cubicBezTo>
                  <a:pt x="21600" y="8923"/>
                  <a:pt x="21567" y="8326"/>
                  <a:pt x="21526" y="8288"/>
                </a:cubicBezTo>
                <a:lnTo>
                  <a:pt x="11551" y="2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5" name="Ornament 18"/>
          <p:cNvSpPr/>
          <p:nvPr/>
        </p:nvSpPr>
        <p:spPr>
          <a:xfrm>
            <a:off x="5545038" y="5283622"/>
            <a:ext cx="1337741" cy="7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6" extrusionOk="0">
                <a:moveTo>
                  <a:pt x="10049" y="2"/>
                </a:moveTo>
                <a:lnTo>
                  <a:pt x="74" y="8288"/>
                </a:lnTo>
                <a:cubicBezTo>
                  <a:pt x="33" y="8326"/>
                  <a:pt x="0" y="8923"/>
                  <a:pt x="0" y="9654"/>
                </a:cubicBezTo>
                <a:lnTo>
                  <a:pt x="0" y="11912"/>
                </a:lnTo>
                <a:cubicBezTo>
                  <a:pt x="0" y="12643"/>
                  <a:pt x="33" y="13240"/>
                  <a:pt x="74" y="13278"/>
                </a:cubicBezTo>
                <a:lnTo>
                  <a:pt x="10049" y="21564"/>
                </a:lnTo>
                <a:cubicBezTo>
                  <a:pt x="10071" y="21583"/>
                  <a:pt x="10092" y="21454"/>
                  <a:pt x="10108" y="21178"/>
                </a:cubicBezTo>
                <a:lnTo>
                  <a:pt x="10643" y="11763"/>
                </a:lnTo>
                <a:cubicBezTo>
                  <a:pt x="10673" y="11221"/>
                  <a:pt x="10673" y="10335"/>
                  <a:pt x="10643" y="9803"/>
                </a:cubicBezTo>
                <a:lnTo>
                  <a:pt x="10108" y="388"/>
                </a:lnTo>
                <a:cubicBezTo>
                  <a:pt x="10093" y="122"/>
                  <a:pt x="10071" y="-17"/>
                  <a:pt x="10049" y="2"/>
                </a:cubicBezTo>
                <a:close/>
                <a:moveTo>
                  <a:pt x="11551" y="2"/>
                </a:moveTo>
                <a:cubicBezTo>
                  <a:pt x="11529" y="-17"/>
                  <a:pt x="11507" y="122"/>
                  <a:pt x="11492" y="388"/>
                </a:cubicBezTo>
                <a:lnTo>
                  <a:pt x="10957" y="9803"/>
                </a:lnTo>
                <a:cubicBezTo>
                  <a:pt x="10927" y="10335"/>
                  <a:pt x="10927" y="11221"/>
                  <a:pt x="10957" y="11763"/>
                </a:cubicBezTo>
                <a:lnTo>
                  <a:pt x="11492" y="21178"/>
                </a:lnTo>
                <a:cubicBezTo>
                  <a:pt x="11508" y="21454"/>
                  <a:pt x="11529" y="21583"/>
                  <a:pt x="11551" y="21564"/>
                </a:cubicBezTo>
                <a:lnTo>
                  <a:pt x="21526" y="13278"/>
                </a:lnTo>
                <a:cubicBezTo>
                  <a:pt x="21567" y="13240"/>
                  <a:pt x="21600" y="12643"/>
                  <a:pt x="21600" y="11912"/>
                </a:cubicBezTo>
                <a:lnTo>
                  <a:pt x="21600" y="9654"/>
                </a:lnTo>
                <a:cubicBezTo>
                  <a:pt x="21600" y="8923"/>
                  <a:pt x="21567" y="8326"/>
                  <a:pt x="21526" y="8288"/>
                </a:cubicBezTo>
                <a:lnTo>
                  <a:pt x="11551" y="2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6" name="Ornament 18"/>
          <p:cNvSpPr/>
          <p:nvPr/>
        </p:nvSpPr>
        <p:spPr>
          <a:xfrm>
            <a:off x="5519638" y="6807622"/>
            <a:ext cx="1337741" cy="7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6" extrusionOk="0">
                <a:moveTo>
                  <a:pt x="10049" y="2"/>
                </a:moveTo>
                <a:lnTo>
                  <a:pt x="74" y="8288"/>
                </a:lnTo>
                <a:cubicBezTo>
                  <a:pt x="33" y="8326"/>
                  <a:pt x="0" y="8923"/>
                  <a:pt x="0" y="9654"/>
                </a:cubicBezTo>
                <a:lnTo>
                  <a:pt x="0" y="11912"/>
                </a:lnTo>
                <a:cubicBezTo>
                  <a:pt x="0" y="12643"/>
                  <a:pt x="33" y="13240"/>
                  <a:pt x="74" y="13278"/>
                </a:cubicBezTo>
                <a:lnTo>
                  <a:pt x="10049" y="21564"/>
                </a:lnTo>
                <a:cubicBezTo>
                  <a:pt x="10071" y="21583"/>
                  <a:pt x="10092" y="21454"/>
                  <a:pt x="10108" y="21178"/>
                </a:cubicBezTo>
                <a:lnTo>
                  <a:pt x="10643" y="11763"/>
                </a:lnTo>
                <a:cubicBezTo>
                  <a:pt x="10673" y="11221"/>
                  <a:pt x="10673" y="10335"/>
                  <a:pt x="10643" y="9803"/>
                </a:cubicBezTo>
                <a:lnTo>
                  <a:pt x="10108" y="388"/>
                </a:lnTo>
                <a:cubicBezTo>
                  <a:pt x="10093" y="122"/>
                  <a:pt x="10071" y="-17"/>
                  <a:pt x="10049" y="2"/>
                </a:cubicBezTo>
                <a:close/>
                <a:moveTo>
                  <a:pt x="11551" y="2"/>
                </a:moveTo>
                <a:cubicBezTo>
                  <a:pt x="11529" y="-17"/>
                  <a:pt x="11507" y="122"/>
                  <a:pt x="11492" y="388"/>
                </a:cubicBezTo>
                <a:lnTo>
                  <a:pt x="10957" y="9803"/>
                </a:lnTo>
                <a:cubicBezTo>
                  <a:pt x="10927" y="10335"/>
                  <a:pt x="10927" y="11221"/>
                  <a:pt x="10957" y="11763"/>
                </a:cubicBezTo>
                <a:lnTo>
                  <a:pt x="11492" y="21178"/>
                </a:lnTo>
                <a:cubicBezTo>
                  <a:pt x="11508" y="21454"/>
                  <a:pt x="11529" y="21583"/>
                  <a:pt x="11551" y="21564"/>
                </a:cubicBezTo>
                <a:lnTo>
                  <a:pt x="21526" y="13278"/>
                </a:lnTo>
                <a:cubicBezTo>
                  <a:pt x="21567" y="13240"/>
                  <a:pt x="21600" y="12643"/>
                  <a:pt x="21600" y="11912"/>
                </a:cubicBezTo>
                <a:lnTo>
                  <a:pt x="21600" y="9654"/>
                </a:lnTo>
                <a:cubicBezTo>
                  <a:pt x="21600" y="8923"/>
                  <a:pt x="21567" y="8326"/>
                  <a:pt x="21526" y="8288"/>
                </a:cubicBezTo>
                <a:lnTo>
                  <a:pt x="11551" y="2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57" name="Ornament 18"/>
          <p:cNvSpPr/>
          <p:nvPr/>
        </p:nvSpPr>
        <p:spPr>
          <a:xfrm>
            <a:off x="5519638" y="8179222"/>
            <a:ext cx="1337741" cy="75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6" extrusionOk="0">
                <a:moveTo>
                  <a:pt x="10049" y="2"/>
                </a:moveTo>
                <a:lnTo>
                  <a:pt x="74" y="8288"/>
                </a:lnTo>
                <a:cubicBezTo>
                  <a:pt x="33" y="8326"/>
                  <a:pt x="0" y="8923"/>
                  <a:pt x="0" y="9654"/>
                </a:cubicBezTo>
                <a:lnTo>
                  <a:pt x="0" y="11912"/>
                </a:lnTo>
                <a:cubicBezTo>
                  <a:pt x="0" y="12643"/>
                  <a:pt x="33" y="13240"/>
                  <a:pt x="74" y="13278"/>
                </a:cubicBezTo>
                <a:lnTo>
                  <a:pt x="10049" y="21564"/>
                </a:lnTo>
                <a:cubicBezTo>
                  <a:pt x="10071" y="21583"/>
                  <a:pt x="10092" y="21454"/>
                  <a:pt x="10108" y="21178"/>
                </a:cubicBezTo>
                <a:lnTo>
                  <a:pt x="10643" y="11763"/>
                </a:lnTo>
                <a:cubicBezTo>
                  <a:pt x="10673" y="11221"/>
                  <a:pt x="10673" y="10335"/>
                  <a:pt x="10643" y="9803"/>
                </a:cubicBezTo>
                <a:lnTo>
                  <a:pt x="10108" y="388"/>
                </a:lnTo>
                <a:cubicBezTo>
                  <a:pt x="10093" y="122"/>
                  <a:pt x="10071" y="-17"/>
                  <a:pt x="10049" y="2"/>
                </a:cubicBezTo>
                <a:close/>
                <a:moveTo>
                  <a:pt x="11551" y="2"/>
                </a:moveTo>
                <a:cubicBezTo>
                  <a:pt x="11529" y="-17"/>
                  <a:pt x="11507" y="122"/>
                  <a:pt x="11492" y="388"/>
                </a:cubicBezTo>
                <a:lnTo>
                  <a:pt x="10957" y="9803"/>
                </a:lnTo>
                <a:cubicBezTo>
                  <a:pt x="10927" y="10335"/>
                  <a:pt x="10927" y="11221"/>
                  <a:pt x="10957" y="11763"/>
                </a:cubicBezTo>
                <a:lnTo>
                  <a:pt x="11492" y="21178"/>
                </a:lnTo>
                <a:cubicBezTo>
                  <a:pt x="11508" y="21454"/>
                  <a:pt x="11529" y="21583"/>
                  <a:pt x="11551" y="21564"/>
                </a:cubicBezTo>
                <a:lnTo>
                  <a:pt x="21526" y="13278"/>
                </a:lnTo>
                <a:cubicBezTo>
                  <a:pt x="21567" y="13240"/>
                  <a:pt x="21600" y="12643"/>
                  <a:pt x="21600" y="11912"/>
                </a:cubicBezTo>
                <a:lnTo>
                  <a:pt x="21600" y="9654"/>
                </a:lnTo>
                <a:cubicBezTo>
                  <a:pt x="21600" y="8923"/>
                  <a:pt x="21567" y="8326"/>
                  <a:pt x="21526" y="8288"/>
                </a:cubicBezTo>
                <a:lnTo>
                  <a:pt x="11551" y="2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4DA4-7946-FA5B-138E-E434044D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4A0218-97C1-900A-D253-ABCFF3F0F56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98F73-B1DD-F30D-1199-50441B8F9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320" y="-517517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669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2"/>
          <p:cNvSpPr/>
          <p:nvPr/>
        </p:nvSpPr>
        <p:spPr>
          <a:xfrm>
            <a:off x="1905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160" name="TextBox 3"/>
          <p:cNvSpPr txBox="1"/>
          <p:nvPr/>
        </p:nvSpPr>
        <p:spPr>
          <a:xfrm>
            <a:off x="190227" y="217081"/>
            <a:ext cx="18043654" cy="780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300"/>
              </a:lnSpc>
              <a:defRPr sz="48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USP 3: Progressive Disclosure  |  USP 4: NL Workflow Compiler         </a:t>
            </a:r>
          </a:p>
        </p:txBody>
      </p:sp>
      <p:sp>
        <p:nvSpPr>
          <p:cNvPr id="161" name="TextBox 4"/>
          <p:cNvSpPr txBox="1"/>
          <p:nvPr/>
        </p:nvSpPr>
        <p:spPr>
          <a:xfrm>
            <a:off x="3483948" y="1832375"/>
            <a:ext cx="2817541" cy="49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22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Low Token Footprint</a:t>
            </a:r>
          </a:p>
        </p:txBody>
      </p:sp>
      <p:sp>
        <p:nvSpPr>
          <p:cNvPr id="162" name="TextBox 5"/>
          <p:cNvSpPr txBox="1"/>
          <p:nvPr/>
        </p:nvSpPr>
        <p:spPr>
          <a:xfrm>
            <a:off x="2965208" y="4829175"/>
            <a:ext cx="3855021" cy="490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22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On-Demand Expansion</a:t>
            </a:r>
          </a:p>
        </p:txBody>
      </p:sp>
      <p:sp>
        <p:nvSpPr>
          <p:cNvPr id="163" name="TextBox 6"/>
          <p:cNvSpPr txBox="1"/>
          <p:nvPr/>
        </p:nvSpPr>
        <p:spPr>
          <a:xfrm>
            <a:off x="12506541" y="1832375"/>
            <a:ext cx="3171193" cy="49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22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NL Pipeline Compiler</a:t>
            </a:r>
          </a:p>
        </p:txBody>
      </p:sp>
      <p:sp>
        <p:nvSpPr>
          <p:cNvPr id="164" name="TextBox 7"/>
          <p:cNvSpPr txBox="1"/>
          <p:nvPr/>
        </p:nvSpPr>
        <p:spPr>
          <a:xfrm>
            <a:off x="10549897" y="4819650"/>
            <a:ext cx="6275488" cy="490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22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Deterministic Output</a:t>
            </a:r>
          </a:p>
        </p:txBody>
      </p:sp>
      <p:sp>
        <p:nvSpPr>
          <p:cNvPr id="165" name="TextBox 8"/>
          <p:cNvSpPr txBox="1"/>
          <p:nvPr/>
        </p:nvSpPr>
        <p:spPr>
          <a:xfrm>
            <a:off x="1421545" y="1769976"/>
            <a:ext cx="214165" cy="476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17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1</a:t>
            </a:r>
          </a:p>
        </p:txBody>
      </p:sp>
      <p:sp>
        <p:nvSpPr>
          <p:cNvPr id="166" name="TextBox 9"/>
          <p:cNvSpPr txBox="1"/>
          <p:nvPr/>
        </p:nvSpPr>
        <p:spPr>
          <a:xfrm>
            <a:off x="1421545" y="4791075"/>
            <a:ext cx="214165" cy="476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17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3</a:t>
            </a:r>
          </a:p>
        </p:txBody>
      </p:sp>
      <p:sp>
        <p:nvSpPr>
          <p:cNvPr id="167" name="TextBox 10"/>
          <p:cNvSpPr txBox="1"/>
          <p:nvPr/>
        </p:nvSpPr>
        <p:spPr>
          <a:xfrm>
            <a:off x="9831578" y="1769976"/>
            <a:ext cx="214165" cy="476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17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2</a:t>
            </a:r>
          </a:p>
        </p:txBody>
      </p:sp>
      <p:sp>
        <p:nvSpPr>
          <p:cNvPr id="168" name="TextBox 11"/>
          <p:cNvSpPr txBox="1"/>
          <p:nvPr/>
        </p:nvSpPr>
        <p:spPr>
          <a:xfrm>
            <a:off x="9831578" y="4810125"/>
            <a:ext cx="214165" cy="476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17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lvl1pPr>
          </a:lstStyle>
          <a:p>
            <a:r>
              <a:t>4</a:t>
            </a:r>
          </a:p>
        </p:txBody>
      </p:sp>
      <p:sp>
        <p:nvSpPr>
          <p:cNvPr id="169" name="TextBox 12"/>
          <p:cNvSpPr txBox="1"/>
          <p:nvPr/>
        </p:nvSpPr>
        <p:spPr>
          <a:xfrm>
            <a:off x="1904101" y="2517440"/>
            <a:ext cx="5797281" cy="1934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3900"/>
              </a:lnSpc>
              <a:defRPr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dirty="0"/>
              <a:t>Default: Agent sees only 15 macro-workflows (~2.5k tokens, vs 120k raw).</a:t>
            </a:r>
            <a:endParaRPr lang="en-US" dirty="0"/>
          </a:p>
          <a:p>
            <a:r>
              <a:rPr lang="en-US" b="0" i="0" dirty="0">
                <a:solidFill>
                  <a:schemeClr val="tx1"/>
                </a:solidFill>
                <a:effectLst/>
              </a:rPr>
              <a:t>Dramatically reduces API costs and minimizes the risk of AI hallucinations.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TextBox 13"/>
          <p:cNvSpPr txBox="1"/>
          <p:nvPr/>
        </p:nvSpPr>
        <p:spPr>
          <a:xfrm>
            <a:off x="10351760" y="2517440"/>
            <a:ext cx="5617325" cy="1934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900"/>
              </a:lnSpc>
              <a:defRPr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dirty="0" err="1">
                <a:solidFill>
                  <a:schemeClr val="tx1"/>
                </a:solidFill>
              </a:rPr>
              <a:t>expand_workflow</a:t>
            </a:r>
            <a:r>
              <a:rPr dirty="0">
                <a:solidFill>
                  <a:schemeClr val="tx1"/>
                </a:solidFill>
              </a:rPr>
              <a:t>(id) dynamically injects sub-endpoints on demand.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0" i="0" dirty="0">
                <a:solidFill>
                  <a:schemeClr val="tx1"/>
                </a:solidFill>
                <a:effectLst/>
              </a:rPr>
              <a:t>Abstracts away complex API syntax so operators can focus entirely on business logic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1" name="TextBox 14"/>
          <p:cNvSpPr txBox="1"/>
          <p:nvPr/>
        </p:nvSpPr>
        <p:spPr>
          <a:xfrm>
            <a:off x="10153623" y="5614530"/>
            <a:ext cx="5815462" cy="1934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3900"/>
              </a:lnSpc>
              <a:defRPr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dirty="0">
                <a:solidFill>
                  <a:schemeClr val="tx1"/>
                </a:solidFill>
              </a:rPr>
              <a:t>DevOps engineers describe intent in plain English to configure pipelines.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0" i="0" dirty="0">
                <a:solidFill>
                  <a:schemeClr val="tx1"/>
                </a:solidFill>
                <a:effectLst/>
              </a:rPr>
              <a:t>Produces safe, reviewable execution plans rather than unpredictable black-box actions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2" name="TextBox 15"/>
          <p:cNvSpPr txBox="1"/>
          <p:nvPr/>
        </p:nvSpPr>
        <p:spPr>
          <a:xfrm>
            <a:off x="1904101" y="5614530"/>
            <a:ext cx="6505968" cy="1436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3900"/>
              </a:lnSpc>
              <a:defRPr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rPr dirty="0">
                <a:solidFill>
                  <a:schemeClr val="tx1"/>
                </a:solidFill>
              </a:rPr>
              <a:t>LLM translates intent to static, repeatable API call sequences at compile time.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0" i="0" dirty="0">
                <a:solidFill>
                  <a:schemeClr val="tx1"/>
                </a:solidFill>
                <a:effectLst/>
              </a:rPr>
              <a:t>Keeps the baseline context clean while enabling infinite scalability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3" name="TextBox 16"/>
          <p:cNvSpPr txBox="1"/>
          <p:nvPr/>
        </p:nvSpPr>
        <p:spPr>
          <a:xfrm>
            <a:off x="1028700" y="3713145"/>
            <a:ext cx="6907542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 </a:t>
            </a:r>
          </a:p>
        </p:txBody>
      </p:sp>
      <p:sp>
        <p:nvSpPr>
          <p:cNvPr id="174" name="TextBox 17"/>
          <p:cNvSpPr txBox="1"/>
          <p:nvPr/>
        </p:nvSpPr>
        <p:spPr>
          <a:xfrm>
            <a:off x="9259679" y="3713145"/>
            <a:ext cx="6907542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 </a:t>
            </a:r>
          </a:p>
        </p:txBody>
      </p:sp>
      <p:sp>
        <p:nvSpPr>
          <p:cNvPr id="175" name="TextBox 18"/>
          <p:cNvSpPr txBox="1"/>
          <p:nvPr/>
        </p:nvSpPr>
        <p:spPr>
          <a:xfrm>
            <a:off x="9062294" y="6763067"/>
            <a:ext cx="690754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 </a:t>
            </a:r>
          </a:p>
        </p:txBody>
      </p:sp>
      <p:sp>
        <p:nvSpPr>
          <p:cNvPr id="176" name="TextBox 19"/>
          <p:cNvSpPr txBox="1"/>
          <p:nvPr/>
        </p:nvSpPr>
        <p:spPr>
          <a:xfrm>
            <a:off x="755737" y="6763067"/>
            <a:ext cx="6907542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 </a:t>
            </a:r>
          </a:p>
        </p:txBody>
      </p:sp>
      <p:sp>
        <p:nvSpPr>
          <p:cNvPr id="177" name="TextBox 20"/>
          <p:cNvSpPr txBox="1"/>
          <p:nvPr/>
        </p:nvSpPr>
        <p:spPr>
          <a:xfrm>
            <a:off x="1741863" y="8407717"/>
            <a:ext cx="14940382" cy="887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sz="2200">
                <a:solidFill>
                  <a:srgbClr val="F7F6DF"/>
                </a:solidFill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Progressive disclosure + NL compilation give operators full power without sacrificing the safety of a minimal, predictable AI footprint.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9820-0C55-F769-6D63-A82D1627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C13B76-536C-5A28-B890-CCBAA895BD5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8FA677-FA01-398A-C86D-FF85FB90E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657" y="-547997"/>
            <a:ext cx="18288000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2987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7043-19B2-AD9C-8A28-250CA0D5D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318CF1-751B-152D-E1E9-069416F54C1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A55B8-74C8-C16A-BF4A-5E9BCBD1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658" y="-578477"/>
            <a:ext cx="18591657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613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TextBox 3"/>
          <p:cNvSpPr txBox="1"/>
          <p:nvPr/>
        </p:nvSpPr>
        <p:spPr>
          <a:xfrm>
            <a:off x="948553" y="2763585"/>
            <a:ext cx="3883522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1                      SCP Snapshot           </a:t>
            </a:r>
          </a:p>
        </p:txBody>
      </p:sp>
      <p:sp>
        <p:nvSpPr>
          <p:cNvPr id="181" name="AutoShape 4"/>
          <p:cNvSpPr/>
          <p:nvPr/>
        </p:nvSpPr>
        <p:spPr>
          <a:xfrm flipV="1">
            <a:off x="1919702" y="2221588"/>
            <a:ext cx="1" cy="559599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AutoShape 5"/>
          <p:cNvSpPr/>
          <p:nvPr/>
        </p:nvSpPr>
        <p:spPr>
          <a:xfrm flipV="1">
            <a:off x="5914668" y="2345506"/>
            <a:ext cx="1" cy="559599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" name="AutoShape 6"/>
          <p:cNvSpPr/>
          <p:nvPr/>
        </p:nvSpPr>
        <p:spPr>
          <a:xfrm flipV="1">
            <a:off x="14972695" y="2345506"/>
            <a:ext cx="1" cy="559599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" name="TextBox 7"/>
          <p:cNvSpPr txBox="1"/>
          <p:nvPr/>
        </p:nvSpPr>
        <p:spPr>
          <a:xfrm>
            <a:off x="1457006" y="3615635"/>
            <a:ext cx="148085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2</a:t>
            </a:r>
          </a:p>
        </p:txBody>
      </p:sp>
      <p:sp>
        <p:nvSpPr>
          <p:cNvPr id="185" name="TextBox 8"/>
          <p:cNvSpPr txBox="1"/>
          <p:nvPr/>
        </p:nvSpPr>
        <p:spPr>
          <a:xfrm>
            <a:off x="1434719" y="4538410"/>
            <a:ext cx="148085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3</a:t>
            </a:r>
          </a:p>
        </p:txBody>
      </p:sp>
      <p:sp>
        <p:nvSpPr>
          <p:cNvPr id="186" name="TextBox 9"/>
          <p:cNvSpPr txBox="1"/>
          <p:nvPr/>
        </p:nvSpPr>
        <p:spPr>
          <a:xfrm>
            <a:off x="1428319" y="5363910"/>
            <a:ext cx="155229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4</a:t>
            </a:r>
          </a:p>
        </p:txBody>
      </p:sp>
      <p:sp>
        <p:nvSpPr>
          <p:cNvPr id="187" name="TextBox 10"/>
          <p:cNvSpPr txBox="1"/>
          <p:nvPr/>
        </p:nvSpPr>
        <p:spPr>
          <a:xfrm>
            <a:off x="1443761" y="6308395"/>
            <a:ext cx="147862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5</a:t>
            </a:r>
          </a:p>
        </p:txBody>
      </p:sp>
      <p:sp>
        <p:nvSpPr>
          <p:cNvPr id="188" name="TextBox 11"/>
          <p:cNvSpPr txBox="1"/>
          <p:nvPr/>
        </p:nvSpPr>
        <p:spPr>
          <a:xfrm>
            <a:off x="1428319" y="7205411"/>
            <a:ext cx="154485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6</a:t>
            </a:r>
          </a:p>
        </p:txBody>
      </p:sp>
      <p:sp>
        <p:nvSpPr>
          <p:cNvPr id="189" name="TextBox 12"/>
          <p:cNvSpPr txBox="1"/>
          <p:nvPr/>
        </p:nvSpPr>
        <p:spPr>
          <a:xfrm>
            <a:off x="1412841" y="1862813"/>
            <a:ext cx="209700" cy="384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#</a:t>
            </a:r>
          </a:p>
        </p:txBody>
      </p:sp>
      <p:sp>
        <p:nvSpPr>
          <p:cNvPr id="190" name="TextBox 13"/>
          <p:cNvSpPr txBox="1"/>
          <p:nvPr/>
        </p:nvSpPr>
        <p:spPr>
          <a:xfrm>
            <a:off x="2684484" y="1838786"/>
            <a:ext cx="1861468" cy="3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Safety Feature</a:t>
            </a:r>
          </a:p>
        </p:txBody>
      </p:sp>
      <p:sp>
        <p:nvSpPr>
          <p:cNvPr id="191" name="TextBox 14"/>
          <p:cNvSpPr txBox="1"/>
          <p:nvPr/>
        </p:nvSpPr>
        <p:spPr>
          <a:xfrm>
            <a:off x="8932961" y="1838786"/>
            <a:ext cx="2533725" cy="3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How It Works</a:t>
            </a:r>
          </a:p>
        </p:txBody>
      </p:sp>
      <p:sp>
        <p:nvSpPr>
          <p:cNvPr id="192" name="TextBox 15"/>
          <p:cNvSpPr txBox="1"/>
          <p:nvPr/>
        </p:nvSpPr>
        <p:spPr>
          <a:xfrm>
            <a:off x="15460341" y="1838786"/>
            <a:ext cx="990452" cy="3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Status</a:t>
            </a:r>
          </a:p>
        </p:txBody>
      </p:sp>
      <p:sp>
        <p:nvSpPr>
          <p:cNvPr id="193" name="TextBox 16"/>
          <p:cNvSpPr txBox="1"/>
          <p:nvPr/>
        </p:nvSpPr>
        <p:spPr>
          <a:xfrm>
            <a:off x="2370046" y="5392485"/>
            <a:ext cx="249034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Pre-Execution Snapshot</a:t>
            </a:r>
          </a:p>
        </p:txBody>
      </p:sp>
      <p:sp>
        <p:nvSpPr>
          <p:cNvPr id="194" name="TextBox 17"/>
          <p:cNvSpPr txBox="1"/>
          <p:nvPr/>
        </p:nvSpPr>
        <p:spPr>
          <a:xfrm>
            <a:off x="2360299" y="3615635"/>
            <a:ext cx="2799160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Transactional Integrity</a:t>
            </a:r>
          </a:p>
        </p:txBody>
      </p:sp>
      <p:sp>
        <p:nvSpPr>
          <p:cNvPr id="195" name="TextBox 18"/>
          <p:cNvSpPr txBox="1"/>
          <p:nvPr/>
        </p:nvSpPr>
        <p:spPr>
          <a:xfrm>
            <a:off x="2557868" y="4504061"/>
            <a:ext cx="2114700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Automated Recovery</a:t>
            </a:r>
          </a:p>
        </p:txBody>
      </p:sp>
      <p:sp>
        <p:nvSpPr>
          <p:cNvPr id="196" name="TextBox 19"/>
          <p:cNvSpPr txBox="1"/>
          <p:nvPr/>
        </p:nvSpPr>
        <p:spPr>
          <a:xfrm>
            <a:off x="2201759" y="6246560"/>
            <a:ext cx="282691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Redfish Dual-Bank</a:t>
            </a:r>
          </a:p>
        </p:txBody>
      </p:sp>
      <p:sp>
        <p:nvSpPr>
          <p:cNvPr id="197" name="TextBox 20"/>
          <p:cNvSpPr txBox="1"/>
          <p:nvPr/>
        </p:nvSpPr>
        <p:spPr>
          <a:xfrm>
            <a:off x="2357479" y="7167311"/>
            <a:ext cx="2656211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7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OpenTelemetry Logging</a:t>
            </a:r>
          </a:p>
        </p:txBody>
      </p:sp>
      <p:sp>
        <p:nvSpPr>
          <p:cNvPr id="198" name="TextBox 21"/>
          <p:cNvSpPr txBox="1"/>
          <p:nvPr/>
        </p:nvSpPr>
        <p:spPr>
          <a:xfrm>
            <a:off x="6017682" y="2542048"/>
            <a:ext cx="8794975" cy="692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dirty="0"/>
              <a:t>SCP XML snapshot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: Full Server Configuration Profile captured before any workflow begins.</a:t>
            </a:r>
          </a:p>
        </p:txBody>
      </p:sp>
      <p:sp>
        <p:nvSpPr>
          <p:cNvPr id="199" name="TextBox 22"/>
          <p:cNvSpPr txBox="1"/>
          <p:nvPr/>
        </p:nvSpPr>
        <p:spPr>
          <a:xfrm>
            <a:off x="5750026" y="3414024"/>
            <a:ext cx="8715445" cy="1048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t>Halt on failure: </a:t>
            </a:r>
            <a:r>
              <a:rPr b="0">
                <a:latin typeface="Work Sans"/>
                <a:ea typeface="Work Sans"/>
                <a:cs typeface="Work Sans"/>
                <a:sym typeface="Work Sans"/>
              </a:rPr>
              <a:t>If step 3 of 4 fails, execution stops immediately — hardware remains consistent.</a:t>
            </a:r>
          </a:p>
        </p:txBody>
      </p:sp>
      <p:sp>
        <p:nvSpPr>
          <p:cNvPr id="200" name="TextBox 23"/>
          <p:cNvSpPr txBox="1"/>
          <p:nvPr/>
        </p:nvSpPr>
        <p:spPr>
          <a:xfrm>
            <a:off x="5651601" y="4400298"/>
            <a:ext cx="9297489" cy="692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t>Redfish rollback: </a:t>
            </a:r>
            <a:r>
              <a:rPr b="0">
                <a:latin typeface="Work Sans"/>
                <a:ea typeface="Work Sans"/>
                <a:cs typeface="Work Sans"/>
                <a:sym typeface="Work Sans"/>
              </a:rPr>
              <a:t>Proxy triggers Redfish Dual-Bank partition swap to restore prior state.</a:t>
            </a:r>
          </a:p>
        </p:txBody>
      </p:sp>
      <p:sp>
        <p:nvSpPr>
          <p:cNvPr id="201" name="TextBox 24"/>
          <p:cNvSpPr txBox="1"/>
          <p:nvPr/>
        </p:nvSpPr>
        <p:spPr>
          <a:xfrm>
            <a:off x="5721451" y="5259573"/>
            <a:ext cx="9413945" cy="1048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t>Partition swap: </a:t>
            </a:r>
            <a:r>
              <a:rPr b="0">
                <a:latin typeface="Work Sans"/>
                <a:ea typeface="Work Sans"/>
                <a:cs typeface="Work Sans"/>
                <a:sym typeface="Work Sans"/>
              </a:rPr>
              <a:t>Previous validated firmware/config bank activated so zero manual </a:t>
            </a:r>
          </a:p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b="0">
                <a:latin typeface="Work Sans"/>
                <a:ea typeface="Work Sans"/>
                <a:cs typeface="Work Sans"/>
                <a:sym typeface="Work Sans"/>
              </a:rPr>
              <a:t>intervention.</a:t>
            </a:r>
          </a:p>
        </p:txBody>
      </p:sp>
      <p:sp>
        <p:nvSpPr>
          <p:cNvPr id="202" name="TextBox 25"/>
          <p:cNvSpPr txBox="1"/>
          <p:nvPr/>
        </p:nvSpPr>
        <p:spPr>
          <a:xfrm>
            <a:off x="6103407" y="6182347"/>
            <a:ext cx="8715445" cy="1048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t>OTel trace: </a:t>
            </a:r>
            <a:r>
              <a:rPr b="0">
                <a:latin typeface="Work Sans"/>
                <a:ea typeface="Work Sans"/>
                <a:cs typeface="Work Sans"/>
                <a:sym typeface="Work Sans"/>
              </a:rPr>
              <a:t>Every AI action is traced end-to-end: from LLM intent to exact raw HTTP payload executed on iDRAC.</a:t>
            </a:r>
          </a:p>
        </p:txBody>
      </p:sp>
      <p:sp>
        <p:nvSpPr>
          <p:cNvPr id="203" name="TextBox 26"/>
          <p:cNvSpPr txBox="1"/>
          <p:nvPr/>
        </p:nvSpPr>
        <p:spPr>
          <a:xfrm>
            <a:off x="5968548" y="7067022"/>
            <a:ext cx="8715444" cy="1048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17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t> </a:t>
            </a:r>
            <a:r>
              <a:rPr b="0">
                <a:latin typeface="Work Sans"/>
                <a:ea typeface="Work Sans"/>
                <a:cs typeface="Work Sans"/>
                <a:sym typeface="Work Sans"/>
              </a:rPr>
              <a:t>Human-in-the-Loop checkpoint: preview all workflow steps before any hardware command executes.</a:t>
            </a:r>
          </a:p>
        </p:txBody>
      </p:sp>
      <p:sp>
        <p:nvSpPr>
          <p:cNvPr id="204" name="TextBox 27"/>
          <p:cNvSpPr txBox="1"/>
          <p:nvPr/>
        </p:nvSpPr>
        <p:spPr>
          <a:xfrm>
            <a:off x="15748685" y="2636347"/>
            <a:ext cx="619572" cy="384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solidFill>
                  <a:srgbClr val="00BF63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Live</a:t>
            </a:r>
          </a:p>
        </p:txBody>
      </p:sp>
      <p:sp>
        <p:nvSpPr>
          <p:cNvPr id="205" name="TextBox 28"/>
          <p:cNvSpPr txBox="1"/>
          <p:nvPr/>
        </p:nvSpPr>
        <p:spPr>
          <a:xfrm>
            <a:off x="15748685" y="3559121"/>
            <a:ext cx="619572" cy="384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solidFill>
                  <a:srgbClr val="00BF63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Live</a:t>
            </a:r>
          </a:p>
        </p:txBody>
      </p:sp>
      <p:sp>
        <p:nvSpPr>
          <p:cNvPr id="206" name="TextBox 29"/>
          <p:cNvSpPr txBox="1"/>
          <p:nvPr/>
        </p:nvSpPr>
        <p:spPr>
          <a:xfrm>
            <a:off x="15748685" y="4481895"/>
            <a:ext cx="619572" cy="3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solidFill>
                  <a:srgbClr val="00BF63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Live</a:t>
            </a:r>
          </a:p>
        </p:txBody>
      </p:sp>
      <p:sp>
        <p:nvSpPr>
          <p:cNvPr id="207" name="TextBox 30"/>
          <p:cNvSpPr txBox="1"/>
          <p:nvPr/>
        </p:nvSpPr>
        <p:spPr>
          <a:xfrm>
            <a:off x="15748685" y="5404670"/>
            <a:ext cx="619572" cy="384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solidFill>
                  <a:srgbClr val="00BF63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Live</a:t>
            </a:r>
          </a:p>
        </p:txBody>
      </p:sp>
      <p:sp>
        <p:nvSpPr>
          <p:cNvPr id="208" name="TextBox 31"/>
          <p:cNvSpPr txBox="1"/>
          <p:nvPr/>
        </p:nvSpPr>
        <p:spPr>
          <a:xfrm>
            <a:off x="15748685" y="6327445"/>
            <a:ext cx="619572" cy="384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solidFill>
                  <a:srgbClr val="00BF63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Live</a:t>
            </a:r>
          </a:p>
        </p:txBody>
      </p:sp>
      <p:sp>
        <p:nvSpPr>
          <p:cNvPr id="209" name="TextBox 32"/>
          <p:cNvSpPr txBox="1"/>
          <p:nvPr/>
        </p:nvSpPr>
        <p:spPr>
          <a:xfrm>
            <a:off x="15748685" y="7250218"/>
            <a:ext cx="619572" cy="3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1700" b="1">
                <a:solidFill>
                  <a:srgbClr val="00BF63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Live</a:t>
            </a:r>
          </a:p>
        </p:txBody>
      </p:sp>
      <p:sp>
        <p:nvSpPr>
          <p:cNvPr id="210" name="TextBox 33"/>
          <p:cNvSpPr txBox="1"/>
          <p:nvPr/>
        </p:nvSpPr>
        <p:spPr>
          <a:xfrm>
            <a:off x="1655295" y="8606897"/>
            <a:ext cx="14970606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 b="1">
                <a:solidFill>
                  <a:srgbClr val="F7F6DF"/>
                </a:solidFill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Pre-execution snapshots, transactional halts, and Redfish rollback run before every hardware operation. Zero exceptions. Zero overrides. Every action logged immutably.</a:t>
            </a:r>
          </a:p>
        </p:txBody>
      </p:sp>
      <p:sp>
        <p:nvSpPr>
          <p:cNvPr id="211" name="TextBox 34"/>
          <p:cNvSpPr txBox="1"/>
          <p:nvPr/>
        </p:nvSpPr>
        <p:spPr>
          <a:xfrm>
            <a:off x="5056394" y="106076"/>
            <a:ext cx="8715444" cy="780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300"/>
              </a:lnSpc>
              <a:defRPr sz="48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USP 5: State-Aware Rollback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2B74-4639-CCA8-A433-9FE6AF07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A38ADA-B819-B739-FA4C-95524632D2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7243A-0D0F-AF8E-B881-352474995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657" y="-578477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4702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Freeform 3"/>
          <p:cNvSpPr/>
          <p:nvPr/>
        </p:nvSpPr>
        <p:spPr>
          <a:xfrm>
            <a:off x="11477503" y="2664718"/>
            <a:ext cx="6017747" cy="526343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TextBox 4"/>
          <p:cNvSpPr txBox="1"/>
          <p:nvPr/>
        </p:nvSpPr>
        <p:spPr>
          <a:xfrm>
            <a:off x="2767156" y="202661"/>
            <a:ext cx="14278898" cy="770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6200"/>
              </a:lnSpc>
              <a:defRPr sz="48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rPr dirty="0"/>
              <a:t>USP 6: The Governance &amp; Observability Cockpit      </a:t>
            </a:r>
          </a:p>
        </p:txBody>
      </p:sp>
      <p:sp>
        <p:nvSpPr>
          <p:cNvPr id="216" name="TextBox 5"/>
          <p:cNvSpPr txBox="1"/>
          <p:nvPr/>
        </p:nvSpPr>
        <p:spPr>
          <a:xfrm>
            <a:off x="1125440" y="1720454"/>
            <a:ext cx="7913676" cy="69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20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dirty="0" err="1"/>
              <a:t>OTel</a:t>
            </a:r>
            <a:r>
              <a:rPr dirty="0"/>
              <a:t> Emission: 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 Every AI action is traced and logged via </a:t>
            </a:r>
            <a:r>
              <a:rPr b="0" dirty="0" err="1">
                <a:latin typeface="Work Sans"/>
                <a:ea typeface="Work Sans"/>
                <a:cs typeface="Work Sans"/>
                <a:sym typeface="Work Sans"/>
              </a:rPr>
              <a:t>OpenTelemetry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. Full audit trail from LLM intent to raw HTTP payload.</a:t>
            </a:r>
          </a:p>
        </p:txBody>
      </p:sp>
      <p:sp>
        <p:nvSpPr>
          <p:cNvPr id="217" name="TextBox 6"/>
          <p:cNvSpPr txBox="1"/>
          <p:nvPr/>
        </p:nvSpPr>
        <p:spPr>
          <a:xfrm>
            <a:off x="1230324" y="3067404"/>
            <a:ext cx="8116497" cy="105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800"/>
              </a:lnSpc>
              <a:defRPr sz="20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dirty="0"/>
              <a:t>Human-in-the-Loop: 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 Preview workflow steps before execution. Operators can inspect and approve before bare-metal command runs.</a:t>
            </a:r>
          </a:p>
        </p:txBody>
      </p:sp>
      <p:sp>
        <p:nvSpPr>
          <p:cNvPr id="218" name="TextBox 7"/>
          <p:cNvSpPr txBox="1"/>
          <p:nvPr/>
        </p:nvSpPr>
        <p:spPr>
          <a:xfrm>
            <a:off x="1125440" y="4437946"/>
            <a:ext cx="7913676" cy="69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20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dirty="0"/>
              <a:t>Auditability: 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 Maps the LLM high-level intent to exact raw HTTP payloads executed on iDRAC. Zero black-box actions.</a:t>
            </a:r>
          </a:p>
        </p:txBody>
      </p:sp>
      <p:sp>
        <p:nvSpPr>
          <p:cNvPr id="219" name="TextBox 8"/>
          <p:cNvSpPr txBox="1"/>
          <p:nvPr/>
        </p:nvSpPr>
        <p:spPr>
          <a:xfrm>
            <a:off x="1230324" y="5748799"/>
            <a:ext cx="7913676" cy="69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20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dirty="0"/>
              <a:t>Compliance-Ready: 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 Security teams get full visibility. Every decision logged with reason codes to an immutable audit trail.</a:t>
            </a:r>
          </a:p>
        </p:txBody>
      </p:sp>
      <p:sp>
        <p:nvSpPr>
          <p:cNvPr id="220" name="TextBox 9"/>
          <p:cNvSpPr txBox="1"/>
          <p:nvPr/>
        </p:nvSpPr>
        <p:spPr>
          <a:xfrm>
            <a:off x="1272457" y="7013225"/>
            <a:ext cx="7913676" cy="69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 sz="2000" b="1">
                <a:latin typeface="Work Sans Bold"/>
                <a:ea typeface="Work Sans Bold"/>
                <a:cs typeface="Work Sans Bold"/>
                <a:sym typeface="Work Sans Bold"/>
              </a:defRPr>
            </a:pPr>
            <a:r>
              <a:rPr dirty="0"/>
              <a:t>Risk Assessor:</a:t>
            </a:r>
            <a:r>
              <a:rPr b="0" dirty="0">
                <a:latin typeface="Work Sans"/>
                <a:ea typeface="Work Sans"/>
                <a:cs typeface="Work Sans"/>
                <a:sym typeface="Work Sans"/>
              </a:rPr>
              <a:t> Pre-execution Fast Pre-Filter scores risk and blocks dangerous operations before they reach hardware.</a:t>
            </a:r>
          </a:p>
        </p:txBody>
      </p:sp>
      <p:sp>
        <p:nvSpPr>
          <p:cNvPr id="221" name="TextBox 10"/>
          <p:cNvSpPr txBox="1"/>
          <p:nvPr/>
        </p:nvSpPr>
        <p:spPr>
          <a:xfrm>
            <a:off x="1272457" y="8855075"/>
            <a:ext cx="15533319" cy="724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2100">
                <a:solidFill>
                  <a:srgbClr val="F7F6DF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 Security teams will not allow AI in the datacenter without full visibility. Drake gives them that—complete observability, zero black-box actions, and a human checkpoint at every critical step.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0FD8FF-F2A9-801A-C601-355B13C14D9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7097C-E22C-9554-1F59-8A9D8A41C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177" y="-517517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9564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TextBox 3"/>
          <p:cNvSpPr txBox="1"/>
          <p:nvPr/>
        </p:nvSpPr>
        <p:spPr>
          <a:xfrm>
            <a:off x="2377908" y="400050"/>
            <a:ext cx="13493727" cy="761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200"/>
              </a:lnSpc>
              <a:defRPr sz="45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Proving the Impact: Token Math &amp; ROI</a:t>
            </a:r>
          </a:p>
        </p:txBody>
      </p:sp>
      <p:sp>
        <p:nvSpPr>
          <p:cNvPr id="225" name="TextBox 4"/>
          <p:cNvSpPr txBox="1"/>
          <p:nvPr/>
        </p:nvSpPr>
        <p:spPr>
          <a:xfrm>
            <a:off x="1880621" y="2039879"/>
            <a:ext cx="3564835" cy="499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4200"/>
              </a:lnSpc>
              <a:defRPr sz="30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rPr dirty="0"/>
              <a:t>Raw iDRAC Spec</a:t>
            </a:r>
          </a:p>
        </p:txBody>
      </p:sp>
      <p:sp>
        <p:nvSpPr>
          <p:cNvPr id="226" name="TextBox 5"/>
          <p:cNvSpPr txBox="1"/>
          <p:nvPr/>
        </p:nvSpPr>
        <p:spPr>
          <a:xfrm>
            <a:off x="7823696" y="2039879"/>
            <a:ext cx="2601517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Drake Proxy</a:t>
            </a:r>
          </a:p>
        </p:txBody>
      </p:sp>
      <p:sp>
        <p:nvSpPr>
          <p:cNvPr id="227" name="TextBox 6"/>
          <p:cNvSpPr txBox="1"/>
          <p:nvPr/>
        </p:nvSpPr>
        <p:spPr>
          <a:xfrm>
            <a:off x="13387108" y="2039879"/>
            <a:ext cx="2840014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 b="1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Results</a:t>
            </a:r>
          </a:p>
        </p:txBody>
      </p:sp>
      <p:sp>
        <p:nvSpPr>
          <p:cNvPr id="228" name="TextBox 7"/>
          <p:cNvSpPr txBox="1"/>
          <p:nvPr/>
        </p:nvSpPr>
        <p:spPr>
          <a:xfrm>
            <a:off x="1076324" y="8839207"/>
            <a:ext cx="16407464" cy="1047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sz="3000">
                <a:solidFill>
                  <a:srgbClr val="F7F6DF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rPr dirty="0"/>
              <a:t>“ 7</a:t>
            </a:r>
            <a:r>
              <a:rPr lang="en-IN" dirty="0"/>
              <a:t>20</a:t>
            </a:r>
            <a:r>
              <a:rPr dirty="0"/>
              <a:t> raw endpoints slashed to </a:t>
            </a:r>
            <a:r>
              <a:rPr lang="en-IN" dirty="0"/>
              <a:t>120</a:t>
            </a:r>
            <a:r>
              <a:rPr dirty="0"/>
              <a:t> semantic workflows. Context window cost reduced by over 95%. ”</a:t>
            </a:r>
          </a:p>
        </p:txBody>
      </p:sp>
      <p:sp>
        <p:nvSpPr>
          <p:cNvPr id="229" name="TextBox 8"/>
          <p:cNvSpPr txBox="1"/>
          <p:nvPr/>
        </p:nvSpPr>
        <p:spPr>
          <a:xfrm>
            <a:off x="1076324" y="3214093"/>
            <a:ext cx="4809382" cy="2830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700+ endpoints</a:t>
            </a:r>
          </a:p>
          <a:p>
            <a:pPr>
              <a:lnSpc>
                <a:spcPts val="2800"/>
              </a:lnSpc>
            </a:pPr>
            <a:endParaRPr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→ ~120,000 tokens</a:t>
            </a:r>
          </a:p>
          <a:p>
            <a:pPr>
              <a:lnSpc>
                <a:spcPts val="2800"/>
              </a:lnSpc>
            </a:pPr>
            <a:endParaRPr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LLM tool paralysis</a:t>
            </a:r>
          </a:p>
          <a:p>
            <a:pPr>
              <a:lnSpc>
                <a:spcPts val="2800"/>
              </a:lnSpc>
            </a:pPr>
            <a:endParaRPr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Hallucinated params</a:t>
            </a:r>
          </a:p>
        </p:txBody>
      </p:sp>
      <p:sp>
        <p:nvSpPr>
          <p:cNvPr id="230" name="TextBox 9"/>
          <p:cNvSpPr txBox="1"/>
          <p:nvPr/>
        </p:nvSpPr>
        <p:spPr>
          <a:xfrm>
            <a:off x="6719762" y="3080444"/>
            <a:ext cx="4809381" cy="2487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rPr dirty="0"/>
              <a:t>1</a:t>
            </a:r>
            <a:r>
              <a:rPr lang="en-IN" dirty="0"/>
              <a:t>20</a:t>
            </a:r>
            <a:r>
              <a:rPr dirty="0"/>
              <a:t> Workflows </a:t>
            </a:r>
          </a:p>
          <a:p>
            <a:pPr>
              <a:lnSpc>
                <a:spcPts val="2800"/>
              </a:lnSpc>
            </a:pPr>
            <a:endParaRPr dirty="0"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rPr dirty="0"/>
              <a:t>→ ~2,500 tokens</a:t>
            </a:r>
          </a:p>
          <a:p>
            <a:pPr>
              <a:lnSpc>
                <a:spcPts val="2800"/>
              </a:lnSpc>
            </a:pPr>
            <a:endParaRPr dirty="0"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rPr dirty="0"/>
              <a:t>Static routing</a:t>
            </a:r>
          </a:p>
          <a:p>
            <a:pPr>
              <a:lnSpc>
                <a:spcPts val="2800"/>
              </a:lnSpc>
            </a:pPr>
            <a:endParaRPr dirty="0"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rPr dirty="0"/>
              <a:t>Zero subjectivity</a:t>
            </a:r>
          </a:p>
        </p:txBody>
      </p:sp>
      <p:sp>
        <p:nvSpPr>
          <p:cNvPr id="231" name="TextBox 10"/>
          <p:cNvSpPr txBox="1"/>
          <p:nvPr/>
        </p:nvSpPr>
        <p:spPr>
          <a:xfrm>
            <a:off x="12411949" y="2946797"/>
            <a:ext cx="4809381" cy="2830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&gt;95% Token Reduction </a:t>
            </a:r>
          </a:p>
          <a:p>
            <a:pPr>
              <a:lnSpc>
                <a:spcPts val="2800"/>
              </a:lnSpc>
            </a:pPr>
            <a:endParaRPr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Zero Hallucinations</a:t>
            </a:r>
          </a:p>
          <a:p>
            <a:pPr>
              <a:lnSpc>
                <a:spcPts val="2800"/>
              </a:lnSpc>
            </a:pPr>
            <a:endParaRPr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Millisecond Latency</a:t>
            </a:r>
          </a:p>
          <a:p>
            <a:pPr>
              <a:lnSpc>
                <a:spcPts val="2800"/>
              </a:lnSpc>
            </a:pPr>
            <a:endParaRPr/>
          </a:p>
          <a:p>
            <a:pPr marL="435631" lvl="1" indent="-217814">
              <a:lnSpc>
                <a:spcPts val="2800"/>
              </a:lnSpc>
              <a:buSzPct val="100000"/>
              <a:buFont typeface="Arial"/>
              <a:buChar char="•"/>
              <a:defRPr sz="2000">
                <a:latin typeface="Work Sans"/>
                <a:ea typeface="Work Sans"/>
                <a:cs typeface="Work Sans"/>
                <a:sym typeface="Work Sans"/>
              </a:defRPr>
            </a:pPr>
            <a:r>
              <a:t>100% Safe Rollback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2E65-DA6A-ED27-5C92-29A02A2B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3BE308-8FE6-E5A2-D419-9D8A1A7FA0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B5E9C-A49F-ADB0-E817-FE98763A2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83" y="0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4096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TextBox 3"/>
          <p:cNvSpPr txBox="1"/>
          <p:nvPr/>
        </p:nvSpPr>
        <p:spPr>
          <a:xfrm>
            <a:off x="686514" y="2089029"/>
            <a:ext cx="7484924" cy="1694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algn="ctr">
              <a:lnSpc>
                <a:spcPts val="3000"/>
              </a:lnSpc>
              <a:defRPr sz="2200" b="1">
                <a:latin typeface="Akzidenz-Grotesk Bold"/>
                <a:ea typeface="Akzidenz-Grotesk Bold"/>
                <a:cs typeface="Akzidenz-Grotesk Bold"/>
                <a:sym typeface="Akzidenz-Grotesk Bold"/>
              </a:defRPr>
            </a:pPr>
            <a:r>
              <a:t>Completed:</a:t>
            </a:r>
          </a:p>
          <a:p>
            <a:pPr algn="ctr">
              <a:lnSpc>
                <a:spcPts val="3000"/>
              </a:lnSpc>
              <a:defRPr sz="2200">
                <a:latin typeface="Akzidenz-Grotesk"/>
                <a:ea typeface="Akzidenz-Grotesk"/>
                <a:cs typeface="Akzidenz-Grotesk"/>
                <a:sym typeface="Akzidenz-Grotesk"/>
              </a:defRPr>
            </a:pPr>
            <a:r>
              <a:t>Solved the 1:1 API mapping bottleneck across 714 Dell iDRAC endpoints. Enabled transactionally safe, multi-API AI infrastructure management with full observability.</a:t>
            </a:r>
          </a:p>
        </p:txBody>
      </p:sp>
      <p:sp>
        <p:nvSpPr>
          <p:cNvPr id="235" name="TextBox 4"/>
          <p:cNvSpPr txBox="1"/>
          <p:nvPr/>
        </p:nvSpPr>
        <p:spPr>
          <a:xfrm>
            <a:off x="686514" y="4739580"/>
            <a:ext cx="7484924" cy="1694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ctr">
              <a:lnSpc>
                <a:spcPts val="3000"/>
              </a:lnSpc>
              <a:defRPr sz="22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Roadmap: Pluggable Zero-Trust Authentication. Open-source the Leiden clustering engine. Dynamic payload caching. Multi-cloud expansion to Azure Arc and AWS SSM.</a:t>
            </a:r>
          </a:p>
        </p:txBody>
      </p:sp>
      <p:sp>
        <p:nvSpPr>
          <p:cNvPr id="236" name="TextBox 5"/>
          <p:cNvSpPr txBox="1"/>
          <p:nvPr/>
        </p:nvSpPr>
        <p:spPr>
          <a:xfrm>
            <a:off x="686514" y="7390132"/>
            <a:ext cx="7484924" cy="1694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ctr">
              <a:lnSpc>
                <a:spcPts val="3000"/>
              </a:lnSpc>
              <a:defRPr sz="2200">
                <a:latin typeface="Akzidenz-Grotesk"/>
                <a:ea typeface="Akzidenz-Grotesk"/>
                <a:cs typeface="Akzidenz-Grotesk"/>
                <a:sym typeface="Akzidenz-Grotesk"/>
              </a:defRPr>
            </a:lvl1pPr>
          </a:lstStyle>
          <a:p>
            <a:r>
              <a:t>Core Pillars: Algorithmic Abstraction | Pre-Flight Verification | State-Aware Rollback. Enterprise-grade governance for every AI action on bare-metal infrastructure.</a:t>
            </a:r>
          </a:p>
        </p:txBody>
      </p:sp>
      <p:sp>
        <p:nvSpPr>
          <p:cNvPr id="237" name="TextBox 6"/>
          <p:cNvSpPr txBox="1"/>
          <p:nvPr/>
        </p:nvSpPr>
        <p:spPr>
          <a:xfrm>
            <a:off x="9420353" y="3396493"/>
            <a:ext cx="3461180" cy="454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sz="2700" b="1" u="sng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     Zero-Trust Auth      </a:t>
            </a:r>
          </a:p>
        </p:txBody>
      </p:sp>
      <p:sp>
        <p:nvSpPr>
          <p:cNvPr id="238" name="TextBox 7"/>
          <p:cNvSpPr txBox="1"/>
          <p:nvPr/>
        </p:nvSpPr>
        <p:spPr>
          <a:xfrm>
            <a:off x="9458791" y="3998472"/>
            <a:ext cx="3441794" cy="1409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0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 Pluggable auth modules: OIDC, SAML, mTLS — enterprise SSO without core proxy changes.</a:t>
            </a:r>
          </a:p>
        </p:txBody>
      </p:sp>
      <p:sp>
        <p:nvSpPr>
          <p:cNvPr id="239" name="TextBox 8"/>
          <p:cNvSpPr txBox="1"/>
          <p:nvPr/>
        </p:nvSpPr>
        <p:spPr>
          <a:xfrm>
            <a:off x="13596495" y="3396493"/>
            <a:ext cx="3461180" cy="454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sz="2700" b="1" u="sng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 Leiden Engine</a:t>
            </a:r>
          </a:p>
        </p:txBody>
      </p:sp>
      <p:sp>
        <p:nvSpPr>
          <p:cNvPr id="240" name="TextBox 9"/>
          <p:cNvSpPr txBox="1"/>
          <p:nvPr/>
        </p:nvSpPr>
        <p:spPr>
          <a:xfrm>
            <a:off x="13615883" y="3962913"/>
            <a:ext cx="3441794" cy="1409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0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The clustering pipeline will be open-sourced so any enterprise can auto-group their own API specs.</a:t>
            </a:r>
          </a:p>
        </p:txBody>
      </p:sp>
      <p:sp>
        <p:nvSpPr>
          <p:cNvPr id="241" name="TextBox 10"/>
          <p:cNvSpPr txBox="1"/>
          <p:nvPr/>
        </p:nvSpPr>
        <p:spPr>
          <a:xfrm>
            <a:off x="9458791" y="7151889"/>
            <a:ext cx="3512869" cy="454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sz="2700" b="1" u="sng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Payload Cache</a:t>
            </a:r>
          </a:p>
        </p:txBody>
      </p:sp>
      <p:sp>
        <p:nvSpPr>
          <p:cNvPr id="242" name="TextBox 11"/>
          <p:cNvSpPr txBox="1"/>
          <p:nvPr/>
        </p:nvSpPr>
        <p:spPr>
          <a:xfrm>
            <a:off x="9494328" y="8007233"/>
            <a:ext cx="3441795" cy="1409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0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 Intelligent response caching reduces redundant iDRAC calls and cuts API latency further.</a:t>
            </a:r>
          </a:p>
        </p:txBody>
      </p:sp>
      <p:sp>
        <p:nvSpPr>
          <p:cNvPr id="243" name="TextBox 12"/>
          <p:cNvSpPr txBox="1"/>
          <p:nvPr/>
        </p:nvSpPr>
        <p:spPr>
          <a:xfrm>
            <a:off x="13993159" y="7551236"/>
            <a:ext cx="2687240" cy="415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400"/>
              </a:lnSpc>
              <a:defRPr sz="2400" b="1" u="sng">
                <a:latin typeface="Work Sans Bold"/>
                <a:ea typeface="Work Sans Bold"/>
                <a:cs typeface="Work Sans Bold"/>
                <a:sym typeface="Work Sans Bold"/>
              </a:defRPr>
            </a:lvl1pPr>
          </a:lstStyle>
          <a:p>
            <a:r>
              <a:t>Multi-Cloud </a:t>
            </a:r>
          </a:p>
        </p:txBody>
      </p:sp>
      <p:sp>
        <p:nvSpPr>
          <p:cNvPr id="244" name="TextBox 13"/>
          <p:cNvSpPr txBox="1"/>
          <p:nvPr/>
        </p:nvSpPr>
        <p:spPr>
          <a:xfrm>
            <a:off x="13615883" y="7922897"/>
            <a:ext cx="3441794" cy="1409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20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Extend Drake to support Cloud and hybrid datacenter management alongside Dell APIs. </a:t>
            </a:r>
          </a:p>
        </p:txBody>
      </p:sp>
      <p:sp>
        <p:nvSpPr>
          <p:cNvPr id="245" name="TextBox 14"/>
          <p:cNvSpPr txBox="1"/>
          <p:nvPr/>
        </p:nvSpPr>
        <p:spPr>
          <a:xfrm>
            <a:off x="1601869" y="247650"/>
            <a:ext cx="14358972" cy="761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200"/>
              </a:lnSpc>
              <a:defRPr sz="4500">
                <a:latin typeface="Work Sans"/>
                <a:ea typeface="Work Sans"/>
                <a:cs typeface="Work Sans"/>
                <a:sym typeface="Work Sans"/>
              </a:defRPr>
            </a:lvl1pPr>
          </a:lstStyle>
          <a:p>
            <a:r>
              <a:t>The Future of Agentic Datacenters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Freeform 2"/>
          <p:cNvSpPr/>
          <p:nvPr/>
        </p:nvSpPr>
        <p:spPr>
          <a:xfrm>
            <a:off x="-1" y="-1"/>
            <a:ext cx="18170846" cy="102211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TextBox 3"/>
          <p:cNvSpPr txBox="1"/>
          <p:nvPr/>
        </p:nvSpPr>
        <p:spPr>
          <a:xfrm>
            <a:off x="3289644" y="3150006"/>
            <a:ext cx="12399692" cy="2571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0"/>
              </a:lnSpc>
              <a:defRPr sz="15000" b="1">
                <a:latin typeface="Clarendon Bold"/>
                <a:ea typeface="Clarendon Bold"/>
                <a:cs typeface="Clarendon Bold"/>
                <a:sym typeface="Clarendon Bold"/>
              </a:defRPr>
            </a:lvl1pPr>
          </a:lstStyle>
          <a:p>
            <a:r>
              <a:t>THANK YOU!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1272</Words>
  <Application>Microsoft Office PowerPoint</Application>
  <PresentationFormat>Custom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Akzidenz-Grotesk</vt:lpstr>
      <vt:lpstr>Arial</vt:lpstr>
      <vt:lpstr>Calibri</vt:lpstr>
      <vt:lpstr>Cambria Math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Shankar Velmurugan</dc:creator>
  <cp:lastModifiedBy>USER</cp:lastModifiedBy>
  <cp:revision>3</cp:revision>
  <dcterms:modified xsi:type="dcterms:W3CDTF">2026-06-22T18:01:42Z</dcterms:modified>
</cp:coreProperties>
</file>